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svg" ContentType="image/svg"/>
  <Override PartName="/ppt/media/image8.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ard">
    <p:spTree>
      <p:nvGrpSpPr>
        <p:cNvPr id="1" name=""/>
        <p:cNvGrpSpPr/>
        <p:nvPr/>
      </p:nvGrpSpPr>
      <p:grpSpPr>
        <a:xfrm>
          <a:off x="0" y="0"/>
          <a:ext cx="0" cy="0"/>
          <a:chOff x="0" y="0"/>
          <a:chExt cx="0" cy="0"/>
        </a:xfrm>
      </p:grpSpPr>
      <p:sp>
        <p:nvSpPr>
          <p:cNvPr id="5"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6" name="PlaceHolder 2"/>
          <p:cNvSpPr>
            <a:spLocks noGrp="1"/>
          </p:cNvSpPr>
          <p:nvPr>
            <p:ph/>
          </p:nvPr>
        </p:nvSpPr>
        <p:spPr>
          <a:xfrm>
            <a:off x="648360" y="1620000"/>
            <a:ext cx="9071280" cy="359964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24D7FCF-9B1A-439B-9375-A7055F67C2E3}" type="slidenum">
              <a:t>&lt;#&gt;</a:t>
            </a:fld>
          </a:p>
        </p:txBody>
      </p:sp>
      <p:sp>
        <p:nvSpPr>
          <p:cNvPr id="6" name="PlaceHolder 5"/>
          <p:cNvSpPr>
            <a:spLocks noGrp="1"/>
          </p:cNvSpPr>
          <p:nvPr>
            <p:ph type="dt" idx="3"/>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ard 1">
    <p:spTree>
      <p:nvGrpSpPr>
        <p:cNvPr id="1" name=""/>
        <p:cNvGrpSpPr/>
        <p:nvPr/>
      </p:nvGrpSpPr>
      <p:grpSpPr>
        <a:xfrm>
          <a:off x="0" y="0"/>
          <a:ext cx="0" cy="0"/>
          <a:chOff x="0" y="0"/>
          <a:chExt cx="0" cy="0"/>
        </a:xfrm>
      </p:grpSpPr>
      <p:sp>
        <p:nvSpPr>
          <p:cNvPr id="12"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13" name="PlaceHolder 2"/>
          <p:cNvSpPr>
            <a:spLocks noGrp="1"/>
          </p:cNvSpPr>
          <p:nvPr>
            <p:ph/>
          </p:nvPr>
        </p:nvSpPr>
        <p:spPr>
          <a:xfrm>
            <a:off x="648360" y="1620000"/>
            <a:ext cx="9071280" cy="359964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E3F8B0C0-0138-40D8-BDC9-35190C409F81}" type="slidenum">
              <a:t>&lt;#&gt;</a:t>
            </a:fld>
          </a:p>
        </p:txBody>
      </p:sp>
      <p:sp>
        <p:nvSpPr>
          <p:cNvPr id="6" name="PlaceHolder 5"/>
          <p:cNvSpPr>
            <a:spLocks noGrp="1"/>
          </p:cNvSpPr>
          <p:nvPr>
            <p:ph type="dt" idx="6"/>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
    <p:spTree>
      <p:nvGrpSpPr>
        <p:cNvPr id="1" name=""/>
        <p:cNvGrpSpPr/>
        <p:nvPr/>
      </p:nvGrpSpPr>
      <p:grpSpPr>
        <a:xfrm>
          <a:off x="0" y="0"/>
          <a:ext cx="0" cy="0"/>
          <a:chOff x="0" y="0"/>
          <a:chExt cx="0" cy="0"/>
        </a:xfrm>
      </p:grpSpPr>
      <p:sp>
        <p:nvSpPr>
          <p:cNvPr id="21"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22" name="PlaceHolder 2"/>
          <p:cNvSpPr>
            <a:spLocks noGrp="1"/>
          </p:cNvSpPr>
          <p:nvPr>
            <p:ph/>
          </p:nvPr>
        </p:nvSpPr>
        <p:spPr>
          <a:xfrm>
            <a:off x="648360" y="1620000"/>
            <a:ext cx="9071280" cy="359964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_">
    <p:spTree>
      <p:nvGrpSpPr>
        <p:cNvPr id="1" name=""/>
        <p:cNvGrpSpPr/>
        <p:nvPr/>
      </p:nvGrpSpPr>
      <p:grpSpPr>
        <a:xfrm>
          <a:off x="0" y="0"/>
          <a:ext cx="0" cy="0"/>
          <a:chOff x="0" y="0"/>
          <a:chExt cx="0" cy="0"/>
        </a:xfrm>
      </p:grpSpPr>
      <p:sp>
        <p:nvSpPr>
          <p:cNvPr id="31"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32" name="PlaceHolder 2"/>
          <p:cNvSpPr>
            <a:spLocks noGrp="1"/>
          </p:cNvSpPr>
          <p:nvPr>
            <p:ph/>
          </p:nvPr>
        </p:nvSpPr>
        <p:spPr>
          <a:xfrm>
            <a:off x="648360" y="1620000"/>
            <a:ext cx="9071280" cy="3599640"/>
          </a:xfrm>
          <a:prstGeom prst="rect">
            <a:avLst/>
          </a:prstGeom>
          <a:noFill/>
          <a:ln w="0">
            <a:noFill/>
          </a:ln>
        </p:spPr>
        <p:txBody>
          <a:bodyPr lIns="0" rIns="0" tIns="0" bIns="0" anchor="t">
            <a:normAutofit/>
          </a:bodyPr>
          <a:p>
            <a:pPr indent="0">
              <a:spcBef>
                <a:spcPts val="1417"/>
              </a:spcBef>
              <a:buNone/>
            </a:pPr>
            <a:endParaRPr b="0" lang="en-GB"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1" name="PlaceHolder 2"/>
          <p:cNvSpPr>
            <a:spLocks noGrp="1"/>
          </p:cNvSpPr>
          <p:nvPr>
            <p:ph type="body"/>
          </p:nvPr>
        </p:nvSpPr>
        <p:spPr>
          <a:xfrm>
            <a:off x="648360" y="1620000"/>
            <a:ext cx="9071280" cy="3599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
        <p:nvSpPr>
          <p:cNvPr id="2" name="PlaceHolder 3"/>
          <p:cNvSpPr>
            <a:spLocks noGrp="1"/>
          </p:cNvSpPr>
          <p:nvPr>
            <p:ph type="ftr" idx="1"/>
          </p:nvPr>
        </p:nvSpPr>
        <p:spPr>
          <a:xfrm>
            <a:off x="3447000" y="5164560"/>
            <a:ext cx="3193920" cy="389880"/>
          </a:xfrm>
          <a:prstGeom prst="rect">
            <a:avLst/>
          </a:prstGeom>
          <a:noFill/>
          <a:ln w="0">
            <a:noFill/>
          </a:ln>
        </p:spPr>
        <p:txBody>
          <a:bodyPr lIns="0" rIns="0" tIns="0" bIns="0" anchor="t">
            <a:noAutofit/>
          </a:bodyPr>
          <a:lstStyle>
            <a:lvl1pPr indent="0" algn="ctr">
              <a:lnSpc>
                <a:spcPct val="100000"/>
              </a:lnSpc>
              <a:buNone/>
              <a:tabLst>
                <a:tab algn="l" pos="0"/>
              </a:tabLst>
              <a:defRPr b="0" lang="nl-NL" sz="1400" spc="-1" strike="noStrike">
                <a:solidFill>
                  <a:srgbClr val="000000"/>
                </a:solidFill>
                <a:latin typeface="Times New Roman"/>
              </a:defRPr>
            </a:lvl1pPr>
          </a:lstStyle>
          <a:p>
            <a:pPr indent="0" algn="ctr">
              <a:lnSpc>
                <a:spcPct val="100000"/>
              </a:lnSpc>
              <a:buNone/>
              <a:tabLst>
                <a:tab algn="l" pos="0"/>
              </a:tabLst>
            </a:pPr>
            <a:r>
              <a:rPr b="0" lang="nl-NL"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3" name="PlaceHolder 4"/>
          <p:cNvSpPr>
            <a:spLocks noGrp="1"/>
          </p:cNvSpPr>
          <p:nvPr>
            <p:ph type="sldNum" idx="2"/>
          </p:nvPr>
        </p:nvSpPr>
        <p:spPr>
          <a:xfrm>
            <a:off x="7226640" y="5164560"/>
            <a:ext cx="2347560" cy="389880"/>
          </a:xfrm>
          <a:prstGeom prst="rect">
            <a:avLst/>
          </a:prstGeom>
          <a:noFill/>
          <a:ln w="0">
            <a:noFill/>
          </a:ln>
        </p:spPr>
        <p:txBody>
          <a:bodyPr lIns="0" rIns="0" tIns="0" bIns="0" anchor="t">
            <a:noAutofit/>
          </a:bodyPr>
          <a:lstStyle>
            <a:lvl1pPr indent="0" algn="r">
              <a:lnSpc>
                <a:spcPct val="100000"/>
              </a:lnSpc>
              <a:buNone/>
              <a:tabLst>
                <a:tab algn="l" pos="0"/>
              </a:tabLst>
              <a:defRPr b="0" lang="nl-NL" sz="1400" spc="-1" strike="noStrike">
                <a:solidFill>
                  <a:srgbClr val="000000"/>
                </a:solidFill>
                <a:latin typeface="Times New Roman"/>
              </a:defRPr>
            </a:lvl1pPr>
          </a:lstStyle>
          <a:p>
            <a:pPr indent="0" algn="r">
              <a:lnSpc>
                <a:spcPct val="100000"/>
              </a:lnSpc>
              <a:buNone/>
              <a:tabLst>
                <a:tab algn="l" pos="0"/>
              </a:tabLst>
            </a:pPr>
            <a:fld id="{22AE66A8-4003-434A-9FFD-CE15531BF4CC}" type="slidenum">
              <a:rPr b="0" lang="nl-NL" sz="1400" spc="-1" strike="noStrike">
                <a:solidFill>
                  <a:srgbClr val="000000"/>
                </a:solidFill>
                <a:latin typeface="Times New Roman"/>
              </a:rPr>
              <a:t>&lt;number&gt;</a:t>
            </a:fld>
            <a:endParaRPr b="0" lang="en-GB" sz="1400" spc="-1" strike="noStrike">
              <a:solidFill>
                <a:srgbClr val="000000"/>
              </a:solidFill>
              <a:latin typeface="Times New Roman"/>
            </a:endParaRPr>
          </a:p>
        </p:txBody>
      </p:sp>
      <p:sp>
        <p:nvSpPr>
          <p:cNvPr id="4" name="PlaceHolder 5"/>
          <p:cNvSpPr>
            <a:spLocks noGrp="1"/>
          </p:cNvSpPr>
          <p:nvPr>
            <p:ph type="dt" idx="3"/>
          </p:nvPr>
        </p:nvSpPr>
        <p:spPr>
          <a:xfrm>
            <a:off x="503640" y="5164560"/>
            <a:ext cx="2347560" cy="389880"/>
          </a:xfrm>
          <a:prstGeom prst="rect">
            <a:avLst/>
          </a:prstGeom>
          <a:noFill/>
          <a:ln w="0">
            <a:noFill/>
          </a:ln>
        </p:spPr>
        <p:txBody>
          <a:bodyPr lIns="0" rIns="0" tIns="0" bIns="0" anchor="t">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8" name="PlaceHolder 2"/>
          <p:cNvSpPr>
            <a:spLocks noGrp="1"/>
          </p:cNvSpPr>
          <p:nvPr>
            <p:ph type="body"/>
          </p:nvPr>
        </p:nvSpPr>
        <p:spPr>
          <a:xfrm>
            <a:off x="648360" y="1620000"/>
            <a:ext cx="9071280" cy="3599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
        <p:nvSpPr>
          <p:cNvPr id="9" name="PlaceHolder 3"/>
          <p:cNvSpPr>
            <a:spLocks noGrp="1"/>
          </p:cNvSpPr>
          <p:nvPr>
            <p:ph type="ftr" idx="4"/>
          </p:nvPr>
        </p:nvSpPr>
        <p:spPr>
          <a:xfrm>
            <a:off x="3087000" y="5189040"/>
            <a:ext cx="3751920" cy="389880"/>
          </a:xfrm>
          <a:prstGeom prst="rect">
            <a:avLst/>
          </a:prstGeom>
          <a:noFill/>
          <a:ln w="0">
            <a:noFill/>
          </a:ln>
        </p:spPr>
        <p:txBody>
          <a:bodyPr lIns="0" rIns="0" tIns="0" bIns="0" anchor="t">
            <a:noAutofit/>
          </a:bodyPr>
          <a:lstStyle>
            <a:lvl1pPr indent="0" algn="ctr">
              <a:lnSpc>
                <a:spcPct val="100000"/>
              </a:lnSpc>
              <a:buNone/>
              <a:tabLst>
                <a:tab algn="l" pos="0"/>
              </a:tabLst>
              <a:defRPr b="0" lang="nl-NL" sz="1400" spc="-1" strike="noStrike">
                <a:solidFill>
                  <a:srgbClr val="000000"/>
                </a:solidFill>
                <a:latin typeface="Times New Roman"/>
              </a:defRPr>
            </a:lvl1pPr>
          </a:lstStyle>
          <a:p>
            <a:pPr indent="0" algn="ctr">
              <a:lnSpc>
                <a:spcPct val="100000"/>
              </a:lnSpc>
              <a:buNone/>
              <a:tabLst>
                <a:tab algn="l" pos="0"/>
              </a:tabLst>
            </a:pPr>
            <a:r>
              <a:rPr b="0" lang="nl-NL"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10" name="PlaceHolder 4"/>
          <p:cNvSpPr>
            <a:spLocks noGrp="1"/>
          </p:cNvSpPr>
          <p:nvPr>
            <p:ph type="sldNum" idx="5"/>
          </p:nvPr>
        </p:nvSpPr>
        <p:spPr>
          <a:xfrm>
            <a:off x="7226640" y="5164560"/>
            <a:ext cx="2347560" cy="389880"/>
          </a:xfrm>
          <a:prstGeom prst="rect">
            <a:avLst/>
          </a:prstGeom>
          <a:noFill/>
          <a:ln w="0">
            <a:noFill/>
          </a:ln>
        </p:spPr>
        <p:txBody>
          <a:bodyPr lIns="0" rIns="0" tIns="0" bIns="0" anchor="t">
            <a:noAutofit/>
          </a:bodyPr>
          <a:lstStyle>
            <a:lvl1pPr indent="0" algn="r">
              <a:lnSpc>
                <a:spcPct val="100000"/>
              </a:lnSpc>
              <a:buNone/>
              <a:tabLst>
                <a:tab algn="l" pos="0"/>
              </a:tabLst>
              <a:defRPr b="0" lang="nl-NL" sz="1400" spc="-1" strike="noStrike">
                <a:solidFill>
                  <a:srgbClr val="000000"/>
                </a:solidFill>
                <a:latin typeface="Times New Roman"/>
              </a:defRPr>
            </a:lvl1pPr>
          </a:lstStyle>
          <a:p>
            <a:pPr indent="0" algn="r">
              <a:lnSpc>
                <a:spcPct val="100000"/>
              </a:lnSpc>
              <a:buNone/>
              <a:tabLst>
                <a:tab algn="l" pos="0"/>
              </a:tabLst>
            </a:pPr>
            <a:fld id="{B4AD1BA3-C271-4F82-9BC0-A12E69B96B61}" type="slidenum">
              <a:rPr b="0" lang="nl-NL" sz="1400" spc="-1" strike="noStrike">
                <a:solidFill>
                  <a:srgbClr val="000000"/>
                </a:solidFill>
                <a:latin typeface="Times New Roman"/>
              </a:rPr>
              <a:t>&lt;number&gt;</a:t>
            </a:fld>
            <a:endParaRPr b="0" lang="en-GB" sz="1400" spc="-1" strike="noStrike">
              <a:solidFill>
                <a:srgbClr val="000000"/>
              </a:solidFill>
              <a:latin typeface="Times New Roman"/>
            </a:endParaRPr>
          </a:p>
        </p:txBody>
      </p:sp>
      <p:sp>
        <p:nvSpPr>
          <p:cNvPr id="11" name="PlaceHolder 5"/>
          <p:cNvSpPr>
            <a:spLocks noGrp="1"/>
          </p:cNvSpPr>
          <p:nvPr>
            <p:ph type="dt" idx="6"/>
          </p:nvPr>
        </p:nvSpPr>
        <p:spPr>
          <a:xfrm>
            <a:off x="503640" y="5164560"/>
            <a:ext cx="2347560" cy="389880"/>
          </a:xfrm>
          <a:prstGeom prst="rect">
            <a:avLst/>
          </a:prstGeom>
          <a:noFill/>
          <a:ln w="0">
            <a:noFill/>
          </a:ln>
        </p:spPr>
        <p:txBody>
          <a:bodyPr lIns="0" rIns="0" tIns="0" bIns="0" anchor="t">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
          <p:cNvSpPr/>
          <p:nvPr/>
        </p:nvSpPr>
        <p:spPr>
          <a:xfrm>
            <a:off x="403200" y="1536840"/>
            <a:ext cx="9675360" cy="4131720"/>
          </a:xfrm>
          <a:prstGeom prst="roundRect">
            <a:avLst>
              <a:gd name="adj" fmla="val 28"/>
            </a:avLst>
          </a:prstGeom>
          <a:solidFill>
            <a:srgbClr val="dddddd"/>
          </a:solidFill>
          <a:ln w="9360">
            <a:solidFill>
              <a:srgbClr val="c0c0c0"/>
            </a:solidFill>
            <a:miter/>
          </a:ln>
        </p:spPr>
        <p:style>
          <a:lnRef idx="0"/>
          <a:fillRef idx="0"/>
          <a:effectRef idx="0"/>
          <a:fontRef idx="minor"/>
        </p:style>
        <p:txBody>
          <a:bodyPr wrap="none" lIns="90000" rIns="90000" tIns="46800" bIns="46800" anchor="ctr">
            <a:noAutofit/>
          </a:bodyPr>
          <a:p>
            <a:pPr>
              <a:lnSpc>
                <a:spcPct val="100000"/>
              </a:lnSpc>
            </a:pPr>
            <a:endParaRPr b="0" lang="nl-NL" sz="1800" spc="-1" strike="noStrike">
              <a:solidFill>
                <a:srgbClr val="000000"/>
              </a:solidFill>
              <a:latin typeface="Arial"/>
              <a:ea typeface="DejaVu Sans"/>
            </a:endParaRPr>
          </a:p>
        </p:txBody>
      </p:sp>
      <p:sp>
        <p:nvSpPr>
          <p:cNvPr id="15" name=""/>
          <p:cNvSpPr/>
          <p:nvPr/>
        </p:nvSpPr>
        <p:spPr>
          <a:xfrm>
            <a:off x="0" y="720"/>
            <a:ext cx="182160" cy="689400"/>
          </a:xfrm>
          <a:custGeom>
            <a:avLst/>
            <a:gdLst>
              <a:gd name="textAreaLeft" fmla="*/ 360 w 182160"/>
              <a:gd name="textAreaRight" fmla="*/ 182160 w 182160"/>
              <a:gd name="textAreaTop" fmla="*/ 360 h 689400"/>
              <a:gd name="textAreaBottom" fmla="*/ 689400 h 689400"/>
            </a:gdLst>
            <a:ahLst/>
            <a:rect l="textAreaLeft" t="textAreaTop" r="textAreaRight" b="textAreaBottom"/>
            <a:pathLst>
              <a:path w="21600" h="81510">
                <a:moveTo>
                  <a:pt x="189" y="0"/>
                </a:moveTo>
                <a:arcTo wR="189" hR="189" stAng="16200000" swAng="-5400000"/>
                <a:lnTo>
                  <a:pt x="0" y="81321"/>
                </a:lnTo>
                <a:arcTo wR="189" hR="189" stAng="10800000" swAng="-5400000"/>
                <a:lnTo>
                  <a:pt x="21411" y="81510"/>
                </a:lnTo>
                <a:arcTo wR="189" hR="189" stAng="5400000" swAng="-5400000"/>
                <a:lnTo>
                  <a:pt x="21600" y="189"/>
                </a:lnTo>
                <a:arcTo wR="189" hR="189" stAng="0" swAng="-5400000"/>
                <a:close/>
              </a:path>
            </a:pathLst>
          </a:custGeom>
          <a:solidFill>
            <a:srgbClr val="125c8d"/>
          </a:solidFill>
          <a:ln w="0">
            <a:noFill/>
          </a:ln>
        </p:spPr>
        <p:style>
          <a:lnRef idx="0"/>
          <a:fillRef idx="0"/>
          <a:effectRef idx="0"/>
          <a:fontRef idx="minor"/>
        </p:style>
        <p:txBody>
          <a:bodyPr wrap="none" lIns="90000" rIns="90000" tIns="46800" bIns="46800" anchor="ctr">
            <a:noAutofit/>
          </a:bodyPr>
          <a:p>
            <a:pPr>
              <a:lnSpc>
                <a:spcPct val="100000"/>
              </a:lnSpc>
            </a:pPr>
            <a:endParaRPr b="0" lang="nl-NL" sz="1800" spc="-1" strike="noStrike">
              <a:solidFill>
                <a:srgbClr val="000000"/>
              </a:solidFill>
              <a:latin typeface="Arial"/>
              <a:ea typeface="DejaVu Sans"/>
            </a:endParaRPr>
          </a:p>
        </p:txBody>
      </p:sp>
      <p:sp>
        <p:nvSpPr>
          <p:cNvPr id="16" name=""/>
          <p:cNvSpPr/>
          <p:nvPr/>
        </p:nvSpPr>
        <p:spPr>
          <a:xfrm>
            <a:off x="0" y="1785960"/>
            <a:ext cx="182160" cy="689040"/>
          </a:xfrm>
          <a:custGeom>
            <a:avLst/>
            <a:gdLst>
              <a:gd name="textAreaLeft" fmla="*/ 360 w 182160"/>
              <a:gd name="textAreaRight" fmla="*/ 182160 w 182160"/>
              <a:gd name="textAreaTop" fmla="*/ 360 h 689040"/>
              <a:gd name="textAreaBottom" fmla="*/ 689040 h 689040"/>
            </a:gdLst>
            <a:ahLst/>
            <a:rect l="textAreaLeft" t="textAreaTop" r="textAreaRight" b="textAreaBottom"/>
            <a:pathLst>
              <a:path w="21600" h="81468">
                <a:moveTo>
                  <a:pt x="189" y="0"/>
                </a:moveTo>
                <a:arcTo wR="189" hR="189" stAng="16200000" swAng="-5400000"/>
                <a:lnTo>
                  <a:pt x="0" y="81279"/>
                </a:lnTo>
                <a:arcTo wR="189" hR="189" stAng="10800000" swAng="-5400000"/>
                <a:lnTo>
                  <a:pt x="21411" y="81468"/>
                </a:lnTo>
                <a:arcTo wR="189" hR="189" stAng="5400000" swAng="-5400000"/>
                <a:lnTo>
                  <a:pt x="21600" y="189"/>
                </a:lnTo>
                <a:arcTo wR="189" hR="189" stAng="0" swAng="-5400000"/>
                <a:close/>
              </a:path>
            </a:pathLst>
          </a:custGeom>
          <a:solidFill>
            <a:srgbClr val="125c8d"/>
          </a:solidFill>
          <a:ln w="0">
            <a:noFill/>
          </a:ln>
        </p:spPr>
        <p:style>
          <a:lnRef idx="0"/>
          <a:fillRef idx="0"/>
          <a:effectRef idx="0"/>
          <a:fontRef idx="minor"/>
        </p:style>
        <p:txBody>
          <a:bodyPr wrap="none" lIns="90000" rIns="90000" tIns="46800" bIns="46800" anchor="ctr">
            <a:noAutofit/>
          </a:bodyPr>
          <a:p>
            <a:pPr>
              <a:lnSpc>
                <a:spcPct val="100000"/>
              </a:lnSpc>
            </a:pPr>
            <a:endParaRPr b="0" lang="nl-NL" sz="1800" spc="-1" strike="noStrike">
              <a:solidFill>
                <a:srgbClr val="ffffff"/>
              </a:solidFill>
              <a:latin typeface="Arial"/>
              <a:ea typeface="DejaVu Sans"/>
            </a:endParaRPr>
          </a:p>
        </p:txBody>
      </p:sp>
      <p:sp>
        <p:nvSpPr>
          <p:cNvPr id="17" name=""/>
          <p:cNvSpPr/>
          <p:nvPr/>
        </p:nvSpPr>
        <p:spPr>
          <a:xfrm>
            <a:off x="0" y="876240"/>
            <a:ext cx="182160" cy="689040"/>
          </a:xfrm>
          <a:custGeom>
            <a:avLst/>
            <a:gdLst>
              <a:gd name="textAreaLeft" fmla="*/ 360 w 182160"/>
              <a:gd name="textAreaRight" fmla="*/ 182160 w 182160"/>
              <a:gd name="textAreaTop" fmla="*/ 360 h 689040"/>
              <a:gd name="textAreaBottom" fmla="*/ 689040 h 689040"/>
            </a:gdLst>
            <a:ahLst/>
            <a:rect l="textAreaLeft" t="textAreaTop" r="textAreaRight" b="textAreaBottom"/>
            <a:pathLst>
              <a:path w="21600" h="81468">
                <a:moveTo>
                  <a:pt x="189" y="0"/>
                </a:moveTo>
                <a:arcTo wR="189" hR="189" stAng="16200000" swAng="-5400000"/>
                <a:lnTo>
                  <a:pt x="0" y="81279"/>
                </a:lnTo>
                <a:arcTo wR="189" hR="189" stAng="10800000" swAng="-5400000"/>
                <a:lnTo>
                  <a:pt x="21411" y="81468"/>
                </a:lnTo>
                <a:arcTo wR="189" hR="189" stAng="5400000" swAng="-5400000"/>
                <a:lnTo>
                  <a:pt x="21600" y="189"/>
                </a:lnTo>
                <a:arcTo wR="189" hR="189" stAng="0" swAng="-5400000"/>
                <a:close/>
              </a:path>
            </a:pathLst>
          </a:custGeom>
          <a:solidFill>
            <a:srgbClr val="83caff"/>
          </a:solidFill>
          <a:ln w="0">
            <a:noFill/>
          </a:ln>
        </p:spPr>
        <p:style>
          <a:lnRef idx="0"/>
          <a:fillRef idx="0"/>
          <a:effectRef idx="0"/>
          <a:fontRef idx="minor"/>
        </p:style>
        <p:txBody>
          <a:bodyPr wrap="none" lIns="90000" rIns="90000" tIns="46800" bIns="46800" anchor="ctr">
            <a:noAutofit/>
          </a:bodyPr>
          <a:p>
            <a:pPr>
              <a:lnSpc>
                <a:spcPct val="100000"/>
              </a:lnSpc>
            </a:pPr>
            <a:endParaRPr b="0" lang="nl-NL" sz="1800" spc="-1" strike="noStrike">
              <a:solidFill>
                <a:srgbClr val="000000"/>
              </a:solidFill>
              <a:latin typeface="Arial"/>
              <a:ea typeface="DejaVu Sans"/>
            </a:endParaRPr>
          </a:p>
        </p:txBody>
      </p:sp>
      <p:sp>
        <p:nvSpPr>
          <p:cNvPr id="18" name=""/>
          <p:cNvSpPr/>
          <p:nvPr/>
        </p:nvSpPr>
        <p:spPr>
          <a:xfrm>
            <a:off x="504000" y="5486760"/>
            <a:ext cx="9574560" cy="199080"/>
          </a:xfrm>
          <a:prstGeom prst="rect">
            <a:avLst/>
          </a:prstGeom>
          <a:noFill/>
          <a:ln w="0">
            <a:noFill/>
          </a:ln>
        </p:spPr>
        <p:style>
          <a:lnRef idx="0"/>
          <a:fillRef idx="0"/>
          <a:effectRef idx="0"/>
          <a:fontRef idx="minor"/>
        </p:style>
        <p:txBody>
          <a:bodyPr lIns="90000" rIns="90000" tIns="46800" bIns="46800" anchor="t">
            <a:spAutoFit/>
          </a:bodyPr>
          <a:p>
            <a:pPr>
              <a:lnSpc>
                <a:spcPct val="87000"/>
              </a:lnSpc>
              <a:spcBef>
                <a:spcPts val="499"/>
              </a:spcBef>
            </a:pPr>
            <a:r>
              <a:rPr b="1" lang="nl-NL" sz="800" spc="-1" strike="noStrike">
                <a:solidFill>
                  <a:srgbClr val="11568c"/>
                </a:solidFill>
                <a:latin typeface="Arial"/>
                <a:ea typeface="DejaVu Sans"/>
              </a:rPr>
              <a:t>Leiden, 11 mei 2026  - Teus Hagen, Frans Kets, Walter Takens      -     </a:t>
            </a:r>
            <a:r>
              <a:rPr b="1" lang="nl-NL" sz="800" spc="-1" strike="noStrike">
                <a:solidFill>
                  <a:srgbClr val="003399"/>
                </a:solidFill>
                <a:latin typeface="Arial"/>
                <a:ea typeface="Noto Sans CJK SC"/>
              </a:rPr>
              <a:t>Schone Lucht Akkoord Burger Participatie: het SLA glas is nu halfvol, en toen?  -       V0.1 </a:t>
            </a:r>
            <a:r>
              <a:rPr b="1" lang="nl-NL" sz="800" spc="-1" strike="noStrike">
                <a:solidFill>
                  <a:srgbClr val="999999"/>
                </a:solidFill>
                <a:latin typeface="Arial"/>
                <a:ea typeface="Noto Sans CJK SC"/>
              </a:rPr>
              <a:t> slide  </a:t>
            </a:r>
            <a:fld id="{3C46A410-7314-4877-B1EA-EFD3FD831FF2}" type="slidenum">
              <a:rPr b="1" lang="nl-NL" sz="800" spc="-1" strike="noStrike">
                <a:solidFill>
                  <a:srgbClr val="999999"/>
                </a:solidFill>
                <a:latin typeface="Arial"/>
                <a:ea typeface="Noto Sans CJK SC"/>
              </a:rPr>
              <a:t>&lt;number&gt;</a:t>
            </a:fld>
            <a:r>
              <a:rPr b="1" lang="nl-NL" sz="800" spc="-1" strike="noStrike">
                <a:solidFill>
                  <a:srgbClr val="999999"/>
                </a:solidFill>
                <a:latin typeface="Arial"/>
                <a:ea typeface="Noto Sans CJK SC"/>
              </a:rPr>
              <a:t> van </a:t>
            </a:r>
            <a:fld id="{CA794603-C8A6-457F-88C0-011F841F6F14}" type="slidecount">
              <a:rPr b="1" lang="nl-NL" sz="800" spc="-1" strike="noStrike">
                <a:solidFill>
                  <a:srgbClr val="003399"/>
                </a:solidFill>
                <a:latin typeface="Arial"/>
                <a:ea typeface="DejaVu Sans"/>
              </a:rPr>
              <a:t>15</a:t>
            </a:fld>
            <a:r>
              <a:rPr b="1" lang="nl-NL" sz="800" spc="-1" strike="noStrike">
                <a:solidFill>
                  <a:srgbClr val="999999"/>
                </a:solidFill>
                <a:latin typeface="Arial"/>
                <a:ea typeface="DejaVu Sans"/>
              </a:rPr>
              <a:t> </a:t>
            </a:r>
            <a:endParaRPr b="0" lang="en-GB" sz="800" spc="-1" strike="noStrike">
              <a:solidFill>
                <a:srgbClr val="000000"/>
              </a:solidFill>
              <a:latin typeface="Arial"/>
            </a:endParaRPr>
          </a:p>
        </p:txBody>
      </p:sp>
      <p:sp>
        <p:nvSpPr>
          <p:cNvPr id="19"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20" name="PlaceHolder 2"/>
          <p:cNvSpPr>
            <a:spLocks noGrp="1"/>
          </p:cNvSpPr>
          <p:nvPr>
            <p:ph type="body"/>
          </p:nvPr>
        </p:nvSpPr>
        <p:spPr>
          <a:xfrm>
            <a:off x="648360" y="1620000"/>
            <a:ext cx="9071280" cy="3599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
          <p:cNvSpPr/>
          <p:nvPr/>
        </p:nvSpPr>
        <p:spPr>
          <a:xfrm>
            <a:off x="403200" y="1536840"/>
            <a:ext cx="9675360" cy="4131720"/>
          </a:xfrm>
          <a:prstGeom prst="roundRect">
            <a:avLst>
              <a:gd name="adj" fmla="val 28"/>
            </a:avLst>
          </a:prstGeom>
          <a:solidFill>
            <a:srgbClr val="dddddd"/>
          </a:solidFill>
          <a:ln w="9360">
            <a:solidFill>
              <a:srgbClr val="c0c0c0"/>
            </a:solidFill>
            <a:miter/>
          </a:ln>
        </p:spPr>
        <p:style>
          <a:lnRef idx="0"/>
          <a:fillRef idx="0"/>
          <a:effectRef idx="0"/>
          <a:fontRef idx="minor"/>
        </p:style>
        <p:txBody>
          <a:bodyPr wrap="none" lIns="90000" rIns="90000" tIns="46800" bIns="46800" anchor="ctr">
            <a:noAutofit/>
          </a:bodyPr>
          <a:p>
            <a:pPr>
              <a:lnSpc>
                <a:spcPct val="100000"/>
              </a:lnSpc>
            </a:pPr>
            <a:endParaRPr b="0" lang="nl-NL" sz="1800" spc="-1" strike="noStrike">
              <a:solidFill>
                <a:srgbClr val="000000"/>
              </a:solidFill>
              <a:latin typeface="Arial"/>
              <a:ea typeface="DejaVu Sans"/>
            </a:endParaRPr>
          </a:p>
        </p:txBody>
      </p:sp>
      <p:sp>
        <p:nvSpPr>
          <p:cNvPr id="24" name=""/>
          <p:cNvSpPr/>
          <p:nvPr/>
        </p:nvSpPr>
        <p:spPr>
          <a:xfrm>
            <a:off x="0" y="360"/>
            <a:ext cx="182160" cy="689400"/>
          </a:xfrm>
          <a:custGeom>
            <a:avLst/>
            <a:gdLst>
              <a:gd name="textAreaLeft" fmla="*/ 360 w 182160"/>
              <a:gd name="textAreaRight" fmla="*/ 182160 w 182160"/>
              <a:gd name="textAreaTop" fmla="*/ 360 h 689400"/>
              <a:gd name="textAreaBottom" fmla="*/ 689400 h 689400"/>
            </a:gdLst>
            <a:ahLst/>
            <a:rect l="textAreaLeft" t="textAreaTop" r="textAreaRight" b="textAreaBottom"/>
            <a:pathLst>
              <a:path w="21600" h="81510">
                <a:moveTo>
                  <a:pt x="189" y="0"/>
                </a:moveTo>
                <a:arcTo wR="189" hR="189" stAng="16200000" swAng="-5400000"/>
                <a:lnTo>
                  <a:pt x="0" y="81321"/>
                </a:lnTo>
                <a:arcTo wR="189" hR="189" stAng="10800000" swAng="-5400000"/>
                <a:lnTo>
                  <a:pt x="21411" y="81510"/>
                </a:lnTo>
                <a:arcTo wR="189" hR="189" stAng="5400000" swAng="-5400000"/>
                <a:lnTo>
                  <a:pt x="21600" y="189"/>
                </a:lnTo>
                <a:arcTo wR="189" hR="189" stAng="0" swAng="-5400000"/>
                <a:close/>
              </a:path>
            </a:pathLst>
          </a:custGeom>
          <a:solidFill>
            <a:srgbClr val="125c8d"/>
          </a:solidFill>
          <a:ln w="0">
            <a:noFill/>
          </a:ln>
        </p:spPr>
        <p:style>
          <a:lnRef idx="0"/>
          <a:fillRef idx="0"/>
          <a:effectRef idx="0"/>
          <a:fontRef idx="minor"/>
        </p:style>
        <p:txBody>
          <a:bodyPr wrap="none" lIns="90000" rIns="90000" tIns="46800" bIns="46800" anchor="ctr">
            <a:noAutofit/>
          </a:bodyPr>
          <a:p>
            <a:pPr>
              <a:lnSpc>
                <a:spcPct val="100000"/>
              </a:lnSpc>
            </a:pPr>
            <a:endParaRPr b="0" lang="nl-NL" sz="1800" spc="-1" strike="noStrike">
              <a:solidFill>
                <a:srgbClr val="000000"/>
              </a:solidFill>
              <a:latin typeface="Arial"/>
              <a:ea typeface="DejaVu Sans"/>
            </a:endParaRPr>
          </a:p>
        </p:txBody>
      </p:sp>
      <p:sp>
        <p:nvSpPr>
          <p:cNvPr id="25" name=""/>
          <p:cNvSpPr/>
          <p:nvPr/>
        </p:nvSpPr>
        <p:spPr>
          <a:xfrm>
            <a:off x="0" y="1785600"/>
            <a:ext cx="182160" cy="689040"/>
          </a:xfrm>
          <a:custGeom>
            <a:avLst/>
            <a:gdLst>
              <a:gd name="textAreaLeft" fmla="*/ 360 w 182160"/>
              <a:gd name="textAreaRight" fmla="*/ 182160 w 182160"/>
              <a:gd name="textAreaTop" fmla="*/ 360 h 689040"/>
              <a:gd name="textAreaBottom" fmla="*/ 689040 h 689040"/>
            </a:gdLst>
            <a:ahLst/>
            <a:rect l="textAreaLeft" t="textAreaTop" r="textAreaRight" b="textAreaBottom"/>
            <a:pathLst>
              <a:path w="21600" h="81468">
                <a:moveTo>
                  <a:pt x="189" y="0"/>
                </a:moveTo>
                <a:arcTo wR="189" hR="189" stAng="16200000" swAng="-5400000"/>
                <a:lnTo>
                  <a:pt x="0" y="81279"/>
                </a:lnTo>
                <a:arcTo wR="189" hR="189" stAng="10800000" swAng="-5400000"/>
                <a:lnTo>
                  <a:pt x="21411" y="81468"/>
                </a:lnTo>
                <a:arcTo wR="189" hR="189" stAng="5400000" swAng="-5400000"/>
                <a:lnTo>
                  <a:pt x="21600" y="189"/>
                </a:lnTo>
                <a:arcTo wR="189" hR="189" stAng="0" swAng="-5400000"/>
                <a:close/>
              </a:path>
            </a:pathLst>
          </a:custGeom>
          <a:solidFill>
            <a:srgbClr val="125c8d"/>
          </a:solidFill>
          <a:ln w="0">
            <a:noFill/>
          </a:ln>
        </p:spPr>
        <p:style>
          <a:lnRef idx="0"/>
          <a:fillRef idx="0"/>
          <a:effectRef idx="0"/>
          <a:fontRef idx="minor"/>
        </p:style>
        <p:txBody>
          <a:bodyPr wrap="none" lIns="90000" rIns="90000" tIns="46800" bIns="46800" anchor="ctr">
            <a:noAutofit/>
          </a:bodyPr>
          <a:p>
            <a:pPr>
              <a:lnSpc>
                <a:spcPct val="100000"/>
              </a:lnSpc>
            </a:pPr>
            <a:endParaRPr b="0" lang="nl-NL" sz="1800" spc="-1" strike="noStrike">
              <a:solidFill>
                <a:srgbClr val="ffffff"/>
              </a:solidFill>
              <a:latin typeface="Arial"/>
              <a:ea typeface="DejaVu Sans"/>
            </a:endParaRPr>
          </a:p>
        </p:txBody>
      </p:sp>
      <p:sp>
        <p:nvSpPr>
          <p:cNvPr id="26" name=""/>
          <p:cNvSpPr/>
          <p:nvPr/>
        </p:nvSpPr>
        <p:spPr>
          <a:xfrm>
            <a:off x="0" y="875880"/>
            <a:ext cx="182160" cy="689040"/>
          </a:xfrm>
          <a:custGeom>
            <a:avLst/>
            <a:gdLst>
              <a:gd name="textAreaLeft" fmla="*/ 360 w 182160"/>
              <a:gd name="textAreaRight" fmla="*/ 182160 w 182160"/>
              <a:gd name="textAreaTop" fmla="*/ 360 h 689040"/>
              <a:gd name="textAreaBottom" fmla="*/ 689040 h 689040"/>
            </a:gdLst>
            <a:ahLst/>
            <a:rect l="textAreaLeft" t="textAreaTop" r="textAreaRight" b="textAreaBottom"/>
            <a:pathLst>
              <a:path w="21600" h="81468">
                <a:moveTo>
                  <a:pt x="189" y="0"/>
                </a:moveTo>
                <a:arcTo wR="189" hR="189" stAng="16200000" swAng="-5400000"/>
                <a:lnTo>
                  <a:pt x="0" y="81279"/>
                </a:lnTo>
                <a:arcTo wR="189" hR="189" stAng="10800000" swAng="-5400000"/>
                <a:lnTo>
                  <a:pt x="21411" y="81468"/>
                </a:lnTo>
                <a:arcTo wR="189" hR="189" stAng="5400000" swAng="-5400000"/>
                <a:lnTo>
                  <a:pt x="21600" y="189"/>
                </a:lnTo>
                <a:arcTo wR="189" hR="189" stAng="0" swAng="-5400000"/>
                <a:close/>
              </a:path>
            </a:pathLst>
          </a:custGeom>
          <a:solidFill>
            <a:srgbClr val="83caff"/>
          </a:solidFill>
          <a:ln w="0">
            <a:noFill/>
          </a:ln>
        </p:spPr>
        <p:style>
          <a:lnRef idx="0"/>
          <a:fillRef idx="0"/>
          <a:effectRef idx="0"/>
          <a:fontRef idx="minor"/>
        </p:style>
        <p:txBody>
          <a:bodyPr wrap="none" lIns="90000" rIns="90000" tIns="46800" bIns="46800" anchor="ctr">
            <a:noAutofit/>
          </a:bodyPr>
          <a:p>
            <a:pPr>
              <a:lnSpc>
                <a:spcPct val="100000"/>
              </a:lnSpc>
            </a:pPr>
            <a:endParaRPr b="0" lang="nl-NL" sz="1800" spc="-1" strike="noStrike">
              <a:solidFill>
                <a:srgbClr val="000000"/>
              </a:solidFill>
              <a:latin typeface="Arial"/>
              <a:ea typeface="DejaVu Sans"/>
            </a:endParaRPr>
          </a:p>
        </p:txBody>
      </p:sp>
      <p:sp>
        <p:nvSpPr>
          <p:cNvPr id="27" name=""/>
          <p:cNvSpPr/>
          <p:nvPr/>
        </p:nvSpPr>
        <p:spPr>
          <a:xfrm>
            <a:off x="7631280" y="5459040"/>
            <a:ext cx="2449080" cy="154440"/>
          </a:xfrm>
          <a:prstGeom prst="rect">
            <a:avLst/>
          </a:prstGeom>
          <a:noFill/>
          <a:ln w="0">
            <a:noFill/>
          </a:ln>
        </p:spPr>
        <p:style>
          <a:lnRef idx="0"/>
          <a:fillRef idx="0"/>
          <a:effectRef idx="0"/>
          <a:fontRef idx="minor"/>
        </p:style>
        <p:txBody>
          <a:bodyPr wrap="none" lIns="90000" rIns="90000" tIns="46800" bIns="46800" anchor="ctr">
            <a:noAutofit/>
          </a:bodyPr>
          <a:p>
            <a:pPr>
              <a:lnSpc>
                <a:spcPct val="100000"/>
              </a:lnSpc>
            </a:pPr>
            <a:endParaRPr b="0" lang="nl-NL" sz="1800" spc="-1" strike="noStrike">
              <a:solidFill>
                <a:srgbClr val="000000"/>
              </a:solidFill>
              <a:latin typeface="Arial"/>
              <a:ea typeface="DejaVu Sans"/>
            </a:endParaRPr>
          </a:p>
        </p:txBody>
      </p:sp>
      <p:sp>
        <p:nvSpPr>
          <p:cNvPr id="28" name=""/>
          <p:cNvSpPr/>
          <p:nvPr/>
        </p:nvSpPr>
        <p:spPr>
          <a:xfrm>
            <a:off x="504000" y="5487120"/>
            <a:ext cx="9574560" cy="199080"/>
          </a:xfrm>
          <a:prstGeom prst="rect">
            <a:avLst/>
          </a:prstGeom>
          <a:noFill/>
          <a:ln w="0">
            <a:noFill/>
          </a:ln>
        </p:spPr>
        <p:style>
          <a:lnRef idx="0"/>
          <a:fillRef idx="0"/>
          <a:effectRef idx="0"/>
          <a:fontRef idx="minor"/>
        </p:style>
        <p:txBody>
          <a:bodyPr lIns="90000" rIns="90000" tIns="46800" bIns="46800" anchor="t">
            <a:spAutoFit/>
          </a:bodyPr>
          <a:p>
            <a:pPr>
              <a:lnSpc>
                <a:spcPct val="87000"/>
              </a:lnSpc>
              <a:spcBef>
                <a:spcPts val="499"/>
              </a:spcBef>
            </a:pPr>
            <a:r>
              <a:rPr b="1" lang="nl-NL" sz="800" spc="-1" strike="noStrike">
                <a:solidFill>
                  <a:srgbClr val="11568c"/>
                </a:solidFill>
                <a:latin typeface="Arial"/>
                <a:ea typeface="DejaVu Sans"/>
              </a:rPr>
              <a:t>Leiden, 11 mei 2026  - Teus Hagen      -    SLA Brandbrief, casus Horst ad Maas, Land van Cuijk</a:t>
            </a:r>
            <a:r>
              <a:rPr b="1" lang="nl-NL" sz="800" spc="-1" strike="noStrike">
                <a:solidFill>
                  <a:srgbClr val="003399"/>
                </a:solidFill>
                <a:latin typeface="Arial"/>
                <a:ea typeface="Noto Sans CJK SC"/>
              </a:rPr>
              <a:t>  -       V1.1          </a:t>
            </a:r>
            <a:r>
              <a:rPr b="1" lang="nl-NL" sz="800" spc="-1" strike="noStrike">
                <a:solidFill>
                  <a:srgbClr val="999999"/>
                </a:solidFill>
                <a:latin typeface="Arial"/>
                <a:ea typeface="Noto Sans CJK SC"/>
              </a:rPr>
              <a:t> slide  </a:t>
            </a:r>
            <a:fld id="{800FEA48-7EF6-42B7-BA7F-001E5A2E24F1}" type="slidenum">
              <a:rPr b="1" lang="nl-NL" sz="800" spc="-1" strike="noStrike">
                <a:solidFill>
                  <a:srgbClr val="999999"/>
                </a:solidFill>
                <a:latin typeface="Arial"/>
                <a:ea typeface="Noto Sans CJK SC"/>
              </a:rPr>
              <a:t>&lt;number&gt;</a:t>
            </a:fld>
            <a:r>
              <a:rPr b="1" lang="nl-NL" sz="800" spc="-1" strike="noStrike">
                <a:solidFill>
                  <a:srgbClr val="999999"/>
                </a:solidFill>
                <a:latin typeface="Arial"/>
                <a:ea typeface="Noto Sans CJK SC"/>
              </a:rPr>
              <a:t> van </a:t>
            </a:r>
            <a:fld id="{11FAAE7B-6124-4C13-9C4A-928ED077BD76}" type="slidecount">
              <a:rPr b="1" lang="nl-NL" sz="800" spc="-1" strike="noStrike">
                <a:solidFill>
                  <a:srgbClr val="003399"/>
                </a:solidFill>
                <a:latin typeface="Arial"/>
                <a:ea typeface="DejaVu Sans"/>
              </a:rPr>
              <a:t>15</a:t>
            </a:fld>
            <a:r>
              <a:rPr b="1" lang="nl-NL" sz="800" spc="-1" strike="noStrike">
                <a:solidFill>
                  <a:srgbClr val="999999"/>
                </a:solidFill>
                <a:latin typeface="Arial"/>
                <a:ea typeface="DejaVu Sans"/>
              </a:rPr>
              <a:t> </a:t>
            </a:r>
            <a:endParaRPr b="0" lang="en-GB" sz="800" spc="-1" strike="noStrike">
              <a:solidFill>
                <a:srgbClr val="000000"/>
              </a:solidFill>
              <a:latin typeface="Arial"/>
            </a:endParaRPr>
          </a:p>
        </p:txBody>
      </p:sp>
      <p:sp>
        <p:nvSpPr>
          <p:cNvPr id="29"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buNone/>
            </a:pPr>
            <a:r>
              <a:rPr b="0" lang="en-GB" sz="1800" spc="-1" strike="noStrike">
                <a:solidFill>
                  <a:srgbClr val="000000"/>
                </a:solidFill>
                <a:latin typeface="Arial"/>
              </a:rPr>
              <a:t>Click to edit the title text format</a:t>
            </a:r>
            <a:endParaRPr b="0" lang="en-GB" sz="1800" spc="-1" strike="noStrike">
              <a:solidFill>
                <a:srgbClr val="000000"/>
              </a:solidFill>
              <a:latin typeface="Arial"/>
            </a:endParaRPr>
          </a:p>
        </p:txBody>
      </p:sp>
      <p:sp>
        <p:nvSpPr>
          <p:cNvPr id="30" name="PlaceHolder 2"/>
          <p:cNvSpPr>
            <a:spLocks noGrp="1"/>
          </p:cNvSpPr>
          <p:nvPr>
            <p:ph type="body"/>
          </p:nvPr>
        </p:nvSpPr>
        <p:spPr>
          <a:xfrm>
            <a:off x="648360" y="1620000"/>
            <a:ext cx="9071280" cy="3599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1800" spc="-1" strike="noStrike">
                <a:solidFill>
                  <a:srgbClr val="000000"/>
                </a:solidFill>
                <a:latin typeface="Arial"/>
              </a:rPr>
              <a:t>Click to edit the outline text format</a:t>
            </a:r>
            <a:endParaRPr b="0" lang="en-GB"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1800" spc="-1" strike="noStrike">
                <a:solidFill>
                  <a:srgbClr val="000000"/>
                </a:solidFill>
                <a:latin typeface="Arial"/>
              </a:rPr>
              <a:t>Second Outline Level</a:t>
            </a:r>
            <a:endParaRPr b="0" lang="en-GB"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1800" spc="-1" strike="noStrike">
                <a:solidFill>
                  <a:srgbClr val="000000"/>
                </a:solidFill>
                <a:latin typeface="Arial"/>
              </a:rPr>
              <a:t>Fourth Outline Level</a:t>
            </a:r>
            <a:endParaRPr b="0" lang="en-GB"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1800" spc="-1" strike="noStrike">
                <a:solidFill>
                  <a:srgbClr val="000000"/>
                </a:solidFill>
                <a:latin typeface="Arial"/>
              </a:rPr>
              <a:t>Fifth Outline Level</a:t>
            </a:r>
            <a:endParaRPr b="0" lang="en-GB"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1800" spc="-1" strike="noStrike">
                <a:solidFill>
                  <a:srgbClr val="000000"/>
                </a:solidFill>
                <a:latin typeface="Arial"/>
              </a:rPr>
              <a:t>Sixth Outline Level</a:t>
            </a:r>
            <a:endParaRPr b="0" lang="en-GB"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1800" spc="-1" strike="noStrike">
                <a:solidFill>
                  <a:srgbClr val="000000"/>
                </a:solidFill>
                <a:latin typeface="Arial"/>
              </a:rPr>
              <a:t>Seventh Outline Level</a:t>
            </a:r>
            <a:endParaRPr b="0" lang="en-GB"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hyperlink" Target="https://github.com/teusH/MySense/blob/master/reports/202603-Casus-Horst%20aan%20de%20Maas.pdf" TargetMode="External"/><Relationship Id="rId2" Type="http://schemas.openxmlformats.org/officeDocument/2006/relationships/image" Target="../media/image2.png"/><Relationship Id="rId3"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hyperlink" Target="https://github.com/teusH/MySense/blob/master/reports/202604-Casus-Land%20van%20Cuijk.pdf" TargetMode="External"/><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svg"/><Relationship Id="rId3"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hyperlink" Target="https://github.com/teusH/MySense/blob/master/reports/BrandBrief-SLA-V1.2.pdf" TargetMode="External"/><Relationship Id="rId2" Type="http://schemas.openxmlformats.org/officeDocument/2006/relationships/hyperlink" Target="https://waag.org/sites/waag/files/2026-03/De%20digitale%20kloof%20overbruggen.pdf" TargetMode="External"/><Relationship Id="rId3" Type="http://schemas.openxmlformats.org/officeDocument/2006/relationships/hyperlink" Target="https://waag.org/sites/waag/files/2026-03/Lokale%20verbindingen.pdf" TargetMode="External"/><Relationship Id="rId4" Type="http://schemas.openxmlformats.org/officeDocument/2006/relationships/hyperlink" Target="https://github.com/teusH/MySense/blob/master/reports/ClarificatieBrandbrief260426.pdf" TargetMode="External"/><Relationship Id="rId5" Type="http://schemas.openxmlformats.org/officeDocument/2006/relationships/hyperlink" Target="https://github.com/teusH/MySense/blob/master/reports/Meetlokaties-Overzicht-2019-2026.pdf" TargetMode="External"/><Relationship Id="rId6" Type="http://schemas.openxmlformats.org/officeDocument/2006/relationships/hyperlink" Target="https://github.com/teusH/MySense/blob/master/reports/SLA-cases-Overzicht-Meetpunten.ods" TargetMode="External"/><Relationship Id="rId7" Type="http://schemas.openxmlformats.org/officeDocument/2006/relationships/hyperlink" Target="https://github.com/teusH/MySense/blob/master/reports/20260309-casus-Leidschendam-Voorburg.pdf" TargetMode="External"/><Relationship Id="rId8" Type="http://schemas.openxmlformats.org/officeDocument/2006/relationships/hyperlink" Target="https://github.com/teusH/MySense/blob/master/reports/202603-Casus-Horst%20aan%20de%20Maas.pdf" TargetMode="External"/><Relationship Id="rId9" Type="http://schemas.openxmlformats.org/officeDocument/2006/relationships/hyperlink" Target="https://github.com/teusH/MySense/blob/master/reports/202604-Casus-Land%20van%20Cuijk.pdf" TargetMode="External"/><Relationship Id="rId10" Type="http://schemas.openxmlformats.org/officeDocument/2006/relationships/hyperlink" Target="https://github.com/teusH/MySense/blob/master/reports/Scapeler%20Cases.pdf" TargetMode="External"/><Relationship Id="rId11" Type="http://schemas.openxmlformats.org/officeDocument/2006/relationships/hyperlink" Target="https://waag.org/nl/citizen-sensing/" TargetMode="External"/><Relationship Id="rId12"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hyperlink" Target="https://github.com/teusH/MySense/blob/master/reports/Tijdslijn%202011-2023%20luchtkwaliteitsmetingen%20Behoud%20de%20Parel%20_%20Behoud%20de%20Parel.pdf" TargetMode="External"/><Relationship Id="rId2" Type="http://schemas.openxmlformats.org/officeDocument/2006/relationships/hyperlink" Target="https://github.com/teusH/MySense/blob/master/reports/3JaarMetenInAgrRegioWatNu.pdf" TargetMode="External"/><Relationship Id="rId3" Type="http://schemas.openxmlformats.org/officeDocument/2006/relationships/hyperlink" Target="https://github.com/teusH/MySense/blob/master/reports/20230601-WAR-luchtkwaliteit-meten-leerschool-Teus-16X10-final.pdf" TargetMode="External"/><Relationship Id="rId4" Type="http://schemas.openxmlformats.org/officeDocument/2006/relationships/hyperlink" Target="https://github.com/teusH/MySense/blob/master/reports/Samen%20meten%20aan%20luchtkwaliteit%20_%20Behoud%20de%20Parel.pdf" TargetMode="External"/><Relationship Id="rId5"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 name="" descr=""/>
          <p:cNvPicPr/>
          <p:nvPr/>
        </p:nvPicPr>
        <p:blipFill>
          <a:blip r:embed="rId1"/>
          <a:srcRect l="0" t="15606" r="0" b="5537"/>
          <a:stretch/>
        </p:blipFill>
        <p:spPr>
          <a:xfrm>
            <a:off x="-180000" y="0"/>
            <a:ext cx="10302840" cy="5939280"/>
          </a:xfrm>
          <a:prstGeom prst="rect">
            <a:avLst/>
          </a:prstGeom>
          <a:ln w="0">
            <a:noFill/>
          </a:ln>
        </p:spPr>
      </p:pic>
      <p:sp>
        <p:nvSpPr>
          <p:cNvPr id="34" name=""/>
          <p:cNvSpPr/>
          <p:nvPr/>
        </p:nvSpPr>
        <p:spPr>
          <a:xfrm>
            <a:off x="37800" y="5607000"/>
            <a:ext cx="3023640" cy="289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nl-NL" sz="1400" spc="-1" strike="noStrike">
                <a:solidFill>
                  <a:srgbClr val="193300"/>
                </a:solidFill>
                <a:latin typeface="Arial"/>
              </a:rPr>
              <a:t>foto: Io Cooman, Volkskrant</a:t>
            </a:r>
            <a:endParaRPr b="0" lang="en-GB" sz="1400" spc="-1" strike="noStrike">
              <a:solidFill>
                <a:srgbClr val="000000"/>
              </a:solidFill>
              <a:latin typeface="Arial"/>
            </a:endParaRPr>
          </a:p>
        </p:txBody>
      </p:sp>
      <p:sp>
        <p:nvSpPr>
          <p:cNvPr id="35" name=""/>
          <p:cNvSpPr/>
          <p:nvPr/>
        </p:nvSpPr>
        <p:spPr>
          <a:xfrm>
            <a:off x="0" y="72000"/>
            <a:ext cx="4499640" cy="5033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GB" sz="2100" spc="-1" strike="noStrike">
              <a:solidFill>
                <a:srgbClr val="000000"/>
              </a:solidFill>
              <a:latin typeface="Arial"/>
            </a:endParaRPr>
          </a:p>
          <a:p>
            <a:pPr>
              <a:lnSpc>
                <a:spcPct val="100000"/>
              </a:lnSpc>
            </a:pPr>
            <a:r>
              <a:rPr b="1" lang="nl-NL" sz="2100" spc="-1" strike="noStrike">
                <a:solidFill>
                  <a:srgbClr val="3465a4"/>
                </a:solidFill>
                <a:latin typeface="Arial"/>
              </a:rPr>
              <a:t>SLA Brandbrief</a:t>
            </a:r>
            <a:endParaRPr b="0" lang="en-GB" sz="2100" spc="-1" strike="noStrike">
              <a:solidFill>
                <a:srgbClr val="000000"/>
              </a:solidFill>
              <a:latin typeface="Arial"/>
            </a:endParaRPr>
          </a:p>
          <a:p>
            <a:pPr>
              <a:lnSpc>
                <a:spcPct val="100000"/>
              </a:lnSpc>
            </a:pPr>
            <a:r>
              <a:rPr b="1" lang="nl-NL" sz="2100" spc="-1" strike="noStrike">
                <a:solidFill>
                  <a:srgbClr val="3465a4"/>
                </a:solidFill>
                <a:latin typeface="Arial"/>
              </a:rPr>
              <a:t>over de zin van:</a:t>
            </a:r>
            <a:endParaRPr b="0" lang="en-GB" sz="2100" spc="-1" strike="noStrike">
              <a:solidFill>
                <a:srgbClr val="000000"/>
              </a:solidFill>
              <a:latin typeface="Arial"/>
            </a:endParaRPr>
          </a:p>
          <a:p>
            <a:pPr>
              <a:lnSpc>
                <a:spcPct val="100000"/>
              </a:lnSpc>
            </a:pPr>
            <a:r>
              <a:rPr b="1" lang="nl-NL" sz="2100" spc="-1" strike="noStrike">
                <a:solidFill>
                  <a:srgbClr val="3465a4"/>
                </a:solidFill>
                <a:latin typeface="Arial"/>
              </a:rPr>
              <a:t>  </a:t>
            </a:r>
            <a:r>
              <a:rPr b="1" lang="nl-NL" sz="2100" spc="-1" strike="noStrike">
                <a:solidFill>
                  <a:srgbClr val="3465a4"/>
                </a:solidFill>
                <a:latin typeface="Arial"/>
              </a:rPr>
              <a:t>Citizen Science</a:t>
            </a:r>
            <a:endParaRPr b="0" lang="en-GB" sz="2100" spc="-1" strike="noStrike">
              <a:solidFill>
                <a:srgbClr val="000000"/>
              </a:solidFill>
              <a:latin typeface="Arial"/>
            </a:endParaRPr>
          </a:p>
          <a:p>
            <a:pPr>
              <a:lnSpc>
                <a:spcPct val="100000"/>
              </a:lnSpc>
            </a:pPr>
            <a:r>
              <a:rPr b="1" lang="nl-NL" sz="2100" spc="-1" strike="noStrike">
                <a:solidFill>
                  <a:srgbClr val="3465a4"/>
                </a:solidFill>
                <a:latin typeface="Arial"/>
              </a:rPr>
              <a:t>  </a:t>
            </a:r>
            <a:r>
              <a:rPr b="1" lang="nl-NL" sz="2100" spc="-1" strike="noStrike">
                <a:solidFill>
                  <a:srgbClr val="3465a4"/>
                </a:solidFill>
                <a:latin typeface="Arial"/>
              </a:rPr>
              <a:t>Luchtkwaliteitsmetingen</a:t>
            </a:r>
            <a:endParaRPr b="0" lang="en-GB" sz="2100" spc="-1" strike="noStrike">
              <a:solidFill>
                <a:srgbClr val="000000"/>
              </a:solidFill>
              <a:latin typeface="Arial"/>
            </a:endParaRPr>
          </a:p>
          <a:p>
            <a:pPr>
              <a:lnSpc>
                <a:spcPct val="100000"/>
              </a:lnSpc>
            </a:pPr>
            <a:endParaRPr b="0" lang="en-GB" sz="2100" spc="-1" strike="noStrike">
              <a:solidFill>
                <a:srgbClr val="000000"/>
              </a:solidFill>
              <a:latin typeface="Arial"/>
            </a:endParaRPr>
          </a:p>
          <a:p>
            <a:pPr>
              <a:lnSpc>
                <a:spcPct val="100000"/>
              </a:lnSpc>
            </a:pPr>
            <a:endParaRPr b="0" lang="en-GB" sz="2100" spc="-1" strike="noStrike">
              <a:solidFill>
                <a:srgbClr val="000000"/>
              </a:solidFill>
              <a:latin typeface="Arial"/>
            </a:endParaRPr>
          </a:p>
          <a:p>
            <a:pPr>
              <a:lnSpc>
                <a:spcPct val="100000"/>
              </a:lnSpc>
            </a:pPr>
            <a:endParaRPr b="0" lang="en-GB" sz="2100" spc="-1" strike="noStrike">
              <a:solidFill>
                <a:srgbClr val="000000"/>
              </a:solidFill>
              <a:latin typeface="Arial"/>
            </a:endParaRPr>
          </a:p>
          <a:p>
            <a:pPr>
              <a:lnSpc>
                <a:spcPct val="100000"/>
              </a:lnSpc>
            </a:pPr>
            <a:r>
              <a:rPr b="1" lang="nl-NL" sz="2100" spc="-1" strike="noStrike">
                <a:solidFill>
                  <a:srgbClr val="3465a4"/>
                </a:solidFill>
                <a:latin typeface="Arial"/>
              </a:rPr>
              <a:t>casus</a:t>
            </a:r>
            <a:endParaRPr b="0" lang="en-GB" sz="2100" spc="-1" strike="noStrike">
              <a:solidFill>
                <a:srgbClr val="000000"/>
              </a:solidFill>
              <a:latin typeface="Arial"/>
            </a:endParaRPr>
          </a:p>
          <a:p>
            <a:pPr>
              <a:lnSpc>
                <a:spcPct val="100000"/>
              </a:lnSpc>
            </a:pPr>
            <a:r>
              <a:rPr b="1" lang="nl-NL" sz="2100" spc="-1" strike="noStrike">
                <a:solidFill>
                  <a:srgbClr val="3465a4"/>
                </a:solidFill>
                <a:latin typeface="Arial"/>
              </a:rPr>
              <a:t>  </a:t>
            </a:r>
            <a:r>
              <a:rPr b="1" lang="nl-NL" sz="2100" spc="-1" strike="noStrike">
                <a:solidFill>
                  <a:srgbClr val="3465a4"/>
                </a:solidFill>
                <a:latin typeface="Arial"/>
              </a:rPr>
              <a:t>Horst aan de Maas, N-Limburg</a:t>
            </a:r>
            <a:endParaRPr b="0" lang="en-GB" sz="2100" spc="-1" strike="noStrike">
              <a:solidFill>
                <a:srgbClr val="000000"/>
              </a:solidFill>
              <a:latin typeface="Arial"/>
            </a:endParaRPr>
          </a:p>
          <a:p>
            <a:pPr>
              <a:lnSpc>
                <a:spcPct val="100000"/>
              </a:lnSpc>
            </a:pPr>
            <a:r>
              <a:rPr b="1" lang="nl-NL" sz="2100" spc="-1" strike="noStrike">
                <a:solidFill>
                  <a:srgbClr val="3465a4"/>
                </a:solidFill>
                <a:latin typeface="Arial"/>
              </a:rPr>
              <a:t>  </a:t>
            </a:r>
            <a:r>
              <a:rPr b="1" lang="nl-NL" sz="2100" spc="-1" strike="noStrike">
                <a:solidFill>
                  <a:srgbClr val="3465a4"/>
                </a:solidFill>
                <a:latin typeface="Arial"/>
              </a:rPr>
              <a:t>Land van Cuijk, ZO-Brabant</a:t>
            </a:r>
            <a:endParaRPr b="0" lang="en-GB" sz="2100" spc="-1" strike="noStrike">
              <a:solidFill>
                <a:srgbClr val="000000"/>
              </a:solidFill>
              <a:latin typeface="Arial"/>
            </a:endParaRPr>
          </a:p>
          <a:p>
            <a:pPr>
              <a:lnSpc>
                <a:spcPct val="100000"/>
              </a:lnSpc>
            </a:pPr>
            <a:endParaRPr b="0" lang="en-GB" sz="1300" spc="-1" strike="noStrike">
              <a:solidFill>
                <a:srgbClr val="000000"/>
              </a:solidFill>
              <a:latin typeface="Arial"/>
            </a:endParaRPr>
          </a:p>
          <a:p>
            <a:pPr>
              <a:lnSpc>
                <a:spcPct val="100000"/>
              </a:lnSpc>
            </a:pPr>
            <a:endParaRPr b="0" lang="en-GB" sz="1300" spc="-1" strike="noStrike">
              <a:solidFill>
                <a:srgbClr val="000000"/>
              </a:solidFill>
              <a:latin typeface="Arial"/>
            </a:endParaRPr>
          </a:p>
          <a:p>
            <a:pPr>
              <a:lnSpc>
                <a:spcPct val="100000"/>
              </a:lnSpc>
            </a:pPr>
            <a:endParaRPr b="0" lang="en-GB" sz="1300" spc="-1" strike="noStrike">
              <a:solidFill>
                <a:srgbClr val="000000"/>
              </a:solidFill>
              <a:latin typeface="Arial"/>
            </a:endParaRPr>
          </a:p>
          <a:p>
            <a:pPr>
              <a:lnSpc>
                <a:spcPct val="100000"/>
              </a:lnSpc>
            </a:pPr>
            <a:endParaRPr b="0" lang="en-GB" sz="1300" spc="-1" strike="noStrike">
              <a:solidFill>
                <a:srgbClr val="000000"/>
              </a:solidFill>
              <a:latin typeface="Arial"/>
            </a:endParaRPr>
          </a:p>
          <a:p>
            <a:pPr>
              <a:lnSpc>
                <a:spcPct val="100000"/>
              </a:lnSpc>
            </a:pPr>
            <a:r>
              <a:rPr b="0" lang="nl-NL" sz="1300" spc="-1" strike="noStrike">
                <a:solidFill>
                  <a:srgbClr val="000000"/>
                </a:solidFill>
                <a:latin typeface="Arial"/>
              </a:rPr>
              <a:t>11 mei 2026, Leiden</a:t>
            </a:r>
            <a:endParaRPr b="0" lang="en-GB" sz="1300" spc="-1" strike="noStrike">
              <a:solidFill>
                <a:srgbClr val="000000"/>
              </a:solidFill>
              <a:latin typeface="Arial"/>
            </a:endParaRPr>
          </a:p>
          <a:p>
            <a:pPr>
              <a:lnSpc>
                <a:spcPct val="100000"/>
              </a:lnSpc>
            </a:pPr>
            <a:r>
              <a:rPr b="0" lang="nl-NL" sz="1300" spc="-1" strike="noStrike">
                <a:solidFill>
                  <a:srgbClr val="000000"/>
                </a:solidFill>
                <a:latin typeface="Arial"/>
              </a:rPr>
              <a:t>overleg (I&amp;W, RWS, RIVM, en initiatieven</a:t>
            </a:r>
            <a:endParaRPr b="0" lang="en-GB" sz="1300" spc="-1" strike="noStrike">
              <a:solidFill>
                <a:srgbClr val="000000"/>
              </a:solidFill>
              <a:latin typeface="Arial"/>
            </a:endParaRPr>
          </a:p>
          <a:p>
            <a:pPr>
              <a:lnSpc>
                <a:spcPct val="100000"/>
              </a:lnSpc>
            </a:pPr>
            <a:endParaRPr b="0" lang="en-GB" sz="1300" spc="-1" strike="noStrike">
              <a:solidFill>
                <a:srgbClr val="000000"/>
              </a:solidFill>
              <a:latin typeface="Arial"/>
            </a:endParaRPr>
          </a:p>
          <a:p>
            <a:pPr>
              <a:lnSpc>
                <a:spcPct val="100000"/>
              </a:lnSpc>
            </a:pPr>
            <a:r>
              <a:rPr b="0" lang="nl-NL" sz="1300" spc="-1" strike="noStrike">
                <a:solidFill>
                  <a:srgbClr val="000000"/>
                </a:solidFill>
                <a:latin typeface="Arial"/>
              </a:rPr>
              <a:t>auteur SLA Brandbrief:  Teus Hagen</a:t>
            </a:r>
            <a:endParaRPr b="0" lang="en-GB"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540000" y="-3600"/>
            <a:ext cx="9071280" cy="1405440"/>
          </a:xfrm>
          <a:prstGeom prst="rect">
            <a:avLst/>
          </a:prstGeom>
          <a:noFill/>
          <a:ln w="0">
            <a:noFill/>
          </a:ln>
        </p:spPr>
        <p:txBody>
          <a:bodyPr lIns="0" rIns="0" tIns="0" bIns="0" anchor="ctr">
            <a:noAutofit/>
          </a:bodyPr>
          <a:p>
            <a:pPr indent="0">
              <a:lnSpc>
                <a:spcPct val="155000"/>
              </a:lnSpc>
              <a:buNone/>
              <a:tabLst>
                <a:tab algn="l" pos="0"/>
              </a:tabLst>
            </a:pPr>
            <a:r>
              <a:rPr b="1" lang="nl-NL" sz="2400" spc="-1" strike="noStrike">
                <a:solidFill>
                  <a:srgbClr val="125c8d"/>
                </a:solidFill>
                <a:latin typeface="Arial"/>
              </a:rPr>
              <a:t>initiatief MySense</a:t>
            </a:r>
            <a:br>
              <a:rPr sz="2400"/>
            </a:br>
            <a:r>
              <a:rPr b="1" lang="nl-NL" sz="2400" spc="-1" strike="noStrike">
                <a:solidFill>
                  <a:srgbClr val="125c8d"/>
                </a:solidFill>
                <a:latin typeface="Arial"/>
              </a:rPr>
              <a:t>                              </a:t>
            </a:r>
            <a:r>
              <a:rPr b="1" lang="nl-NL" sz="4000" spc="-1" strike="noStrike">
                <a:solidFill>
                  <a:srgbClr val="125c8d"/>
                </a:solidFill>
                <a:latin typeface="Arial"/>
              </a:rPr>
              <a:t>Horst aan de Maas</a:t>
            </a:r>
            <a:endParaRPr b="0" lang="en-GB" sz="4000" spc="-1" strike="noStrike">
              <a:solidFill>
                <a:srgbClr val="000000"/>
              </a:solidFill>
              <a:latin typeface="Arial"/>
            </a:endParaRPr>
          </a:p>
        </p:txBody>
      </p:sp>
      <p:sp>
        <p:nvSpPr>
          <p:cNvPr id="37" name="PlaceHolder 2"/>
          <p:cNvSpPr>
            <a:spLocks noGrp="1"/>
          </p:cNvSpPr>
          <p:nvPr>
            <p:ph/>
          </p:nvPr>
        </p:nvSpPr>
        <p:spPr>
          <a:xfrm>
            <a:off x="576360" y="1872000"/>
            <a:ext cx="9071280" cy="2720160"/>
          </a:xfrm>
          <a:prstGeom prst="rect">
            <a:avLst/>
          </a:prstGeom>
          <a:noFill/>
          <a:ln w="0">
            <a:noFill/>
          </a:ln>
        </p:spPr>
        <p:txBody>
          <a:bodyPr lIns="0" rIns="0" tIns="0" bIns="0" anchor="t">
            <a:noAutofit/>
          </a:bodyPr>
          <a:p>
            <a:pPr marL="423720" indent="0">
              <a:lnSpc>
                <a:spcPct val="155000"/>
              </a:lnSpc>
              <a:buNone/>
              <a:tabLst>
                <a:tab algn="l" pos="0"/>
              </a:tabLst>
            </a:pPr>
            <a:endParaRPr b="0" lang="en-GB" sz="24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1800" spc="-1" strike="noStrike">
                <a:solidFill>
                  <a:srgbClr val="125c8d"/>
                </a:solidFill>
                <a:latin typeface="Arial"/>
              </a:rPr>
              <a:t>start ontwikkeling meetstations, data-com, data-analyse, website, rapportages</a:t>
            </a:r>
            <a:endParaRPr b="0" lang="en-GB" sz="18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1800" spc="-1" strike="noStrike">
                <a:solidFill>
                  <a:srgbClr val="125c8d"/>
                </a:solidFill>
                <a:latin typeface="Arial"/>
              </a:rPr>
              <a:t>2018 start met interactieve real time overzichten, referentie metingen via LML</a:t>
            </a:r>
            <a:endParaRPr b="0" lang="en-GB" sz="18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1800" spc="-1" strike="noStrike">
                <a:solidFill>
                  <a:srgbClr val="125c8d"/>
                </a:solidFill>
                <a:latin typeface="Arial"/>
              </a:rPr>
              <a:t>doel: Terms of Reference: PM metingen rond melkvee-, varkens- en kippen-‘stallen’</a:t>
            </a:r>
            <a:endParaRPr b="0" lang="en-GB" sz="18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1800" spc="-1" strike="noStrike">
                <a:solidFill>
                  <a:srgbClr val="125c8d"/>
                </a:solidFill>
                <a:latin typeface="Arial"/>
              </a:rPr>
              <a:t>lokale beleidsvorming:</a:t>
            </a:r>
            <a:endParaRPr b="0" lang="en-GB" sz="1800" spc="-1" strike="noStrike">
              <a:solidFill>
                <a:srgbClr val="000000"/>
              </a:solidFill>
              <a:latin typeface="Arial"/>
            </a:endParaRPr>
          </a:p>
          <a:p>
            <a:pPr marL="423720" indent="0">
              <a:lnSpc>
                <a:spcPct val="155000"/>
              </a:lnSpc>
              <a:buNone/>
              <a:tabLst>
                <a:tab algn="l" pos="0"/>
              </a:tabLst>
            </a:pPr>
            <a:r>
              <a:rPr b="0" lang="nl-NL" sz="1800" spc="-1" strike="noStrike">
                <a:solidFill>
                  <a:srgbClr val="125c8d"/>
                </a:solidFill>
                <a:latin typeface="Arial"/>
              </a:rPr>
              <a:t>constructieve en kwalitatieve inbreng, bewustwording, data analyse</a:t>
            </a:r>
            <a:endParaRPr b="0" lang="en-GB" sz="18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1800" spc="-1" strike="noStrike">
                <a:solidFill>
                  <a:srgbClr val="125c8d"/>
                </a:solidFill>
                <a:latin typeface="Arial"/>
              </a:rPr>
              <a:t>2025 einde: budgettering, demotivatie, uitblijven (lokale) dialoog met lokale overheid</a:t>
            </a:r>
            <a:endParaRPr b="0" lang="en-GB" sz="1800" spc="-1" strike="noStrike">
              <a:solidFill>
                <a:srgbClr val="000000"/>
              </a:solidFill>
              <a:latin typeface="Arial"/>
            </a:endParaRPr>
          </a:p>
        </p:txBody>
      </p:sp>
      <p:sp>
        <p:nvSpPr>
          <p:cNvPr id="38" name=""/>
          <p:cNvSpPr/>
          <p:nvPr/>
        </p:nvSpPr>
        <p:spPr>
          <a:xfrm>
            <a:off x="540000" y="1620000"/>
            <a:ext cx="9359640" cy="539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17"/>
              </a:spcBef>
            </a:pPr>
            <a:r>
              <a:rPr b="0" lang="nl-NL" sz="2200" spc="-1" strike="noStrike">
                <a:solidFill>
                  <a:srgbClr val="125c8d"/>
                </a:solidFill>
                <a:latin typeface="Arial"/>
              </a:rPr>
              <a:t>2011</a:t>
            </a:r>
            <a:r>
              <a:rPr b="0" lang="nl-NL" sz="2600" spc="-1" strike="noStrike">
                <a:solidFill>
                  <a:srgbClr val="125c8d"/>
                </a:solidFill>
                <a:latin typeface="Arial"/>
              </a:rPr>
              <a:t> aanleg Landbouw Ontwikkelings-Gebied Grubbenvorst</a:t>
            </a:r>
            <a:endParaRPr b="0" lang="en-GB" sz="2600" spc="-1" strike="noStrike">
              <a:solidFill>
                <a:srgbClr val="000000"/>
              </a:solidFill>
              <a:latin typeface="Arial"/>
            </a:endParaRPr>
          </a:p>
        </p:txBody>
      </p:sp>
      <p:sp>
        <p:nvSpPr>
          <p:cNvPr id="39" name=""/>
          <p:cNvSpPr/>
          <p:nvPr/>
        </p:nvSpPr>
        <p:spPr>
          <a:xfrm>
            <a:off x="540000" y="5076000"/>
            <a:ext cx="7559640" cy="359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17"/>
              </a:spcBef>
            </a:pPr>
            <a:r>
              <a:rPr b="0" lang="nl-NL" sz="1800" spc="-1" strike="noStrike">
                <a:solidFill>
                  <a:srgbClr val="125c8d"/>
                </a:solidFill>
                <a:latin typeface="Arial"/>
              </a:rPr>
              <a:t>referentie:</a:t>
            </a:r>
            <a:r>
              <a:rPr b="0" lang="nl-NL" sz="1800" spc="-1" strike="noStrike">
                <a:solidFill>
                  <a:srgbClr val="3465a4"/>
                </a:solidFill>
                <a:latin typeface="Arial"/>
              </a:rPr>
              <a:t> </a:t>
            </a:r>
            <a:r>
              <a:rPr b="0" lang="nl-NL" sz="1800" spc="-1" strike="noStrike" u="sng">
                <a:solidFill>
                  <a:srgbClr val="3465a4"/>
                </a:solidFill>
                <a:uFillTx/>
                <a:latin typeface="Arial"/>
                <a:hlinkClick r:id="rId1"/>
              </a:rPr>
              <a:t>CASUS Horst aan de Maas</a:t>
            </a:r>
            <a:endParaRPr b="0" lang="en-GB" sz="1800" spc="-1" strike="noStrike">
              <a:solidFill>
                <a:srgbClr val="000000"/>
              </a:solidFill>
              <a:latin typeface="Arial"/>
            </a:endParaRPr>
          </a:p>
        </p:txBody>
      </p:sp>
      <p:pic>
        <p:nvPicPr>
          <p:cNvPr id="40" name="" descr=""/>
          <p:cNvPicPr/>
          <p:nvPr/>
        </p:nvPicPr>
        <p:blipFill>
          <a:blip r:embed="rId2"/>
          <a:stretch/>
        </p:blipFill>
        <p:spPr>
          <a:xfrm rot="818400">
            <a:off x="8759160" y="300600"/>
            <a:ext cx="599760" cy="113832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afterEffect" fill="hold" presetClass="entr" presetID="1">
                                  <p:stCondLst>
                                    <p:cond delay="1000"/>
                                  </p:stCondLst>
                                  <p:childTnLst>
                                    <p:set>
                                      <p:cBhvr>
                                        <p:cTn id="6" dur="1" fill="hold">
                                          <p:stCondLst>
                                            <p:cond delay="0"/>
                                          </p:stCondLst>
                                        </p:cTn>
                                        <p:tgtEl>
                                          <p:spTgt spid="38">
                                            <p:txEl>
                                              <p:pRg st="0" end="0"/>
                                            </p:txEl>
                                          </p:spTgt>
                                        </p:tgtEl>
                                        <p:attrNameLst>
                                          <p:attrName>style.visibility</p:attrName>
                                        </p:attrNameLst>
                                      </p:cBhvr>
                                      <p:to>
                                        <p:strVal val="visible"/>
                                      </p:to>
                                    </p:set>
                                  </p:childTnLst>
                                </p:cTn>
                              </p:par>
                            </p:childTnLst>
                          </p:cTn>
                        </p:par>
                        <p:par>
                          <p:cTn id="7" fill="hold">
                            <p:stCondLst>
                              <p:cond delay="1000"/>
                            </p:stCondLst>
                            <p:childTnLst>
                              <p:par>
                                <p:cTn id="8" nodeType="afterEffect" fill="hold" presetClass="entr" presetID="1">
                                  <p:stCondLst>
                                    <p:cond delay="1000"/>
                                  </p:stCondLst>
                                  <p:childTnLst>
                                    <p:set>
                                      <p:cBhvr>
                                        <p:cTn id="9" dur="1" fill="hold">
                                          <p:stCondLst>
                                            <p:cond delay="0"/>
                                          </p:stCondLst>
                                        </p:cTn>
                                        <p:tgtEl>
                                          <p:spTgt spid="37">
                                            <p:txEl>
                                              <p:pRg st="1" end="1"/>
                                            </p:txEl>
                                          </p:spTgt>
                                        </p:tgtEl>
                                        <p:attrNameLst>
                                          <p:attrName>style.visibility</p:attrName>
                                        </p:attrNameLst>
                                      </p:cBhvr>
                                      <p:to>
                                        <p:strVal val="visible"/>
                                      </p:to>
                                    </p:set>
                                  </p:childTnLst>
                                </p:cTn>
                              </p:par>
                              <p:par>
                                <p:cTn id="10" nodeType="withEffect" fill="hold" presetClass="entr" presetID="1">
                                  <p:stCondLst>
                                    <p:cond delay="1000"/>
                                  </p:stCondLst>
                                  <p:childTnLst>
                                    <p:set>
                                      <p:cBhvr>
                                        <p:cTn id="11" dur="1" fill="hold">
                                          <p:stCondLst>
                                            <p:cond delay="0"/>
                                          </p:stCondLst>
                                        </p:cTn>
                                        <p:tgtEl>
                                          <p:spTgt spid="37">
                                            <p:txEl>
                                              <p:pRg st="2" end="2"/>
                                            </p:txEl>
                                          </p:spTgt>
                                        </p:tgtEl>
                                        <p:attrNameLst>
                                          <p:attrName>style.visibility</p:attrName>
                                        </p:attrNameLst>
                                      </p:cBhvr>
                                      <p:to>
                                        <p:strVal val="visible"/>
                                      </p:to>
                                    </p:set>
                                  </p:childTnLst>
                                </p:cTn>
                              </p:par>
                              <p:animClr clrSpc="rgb">
                                <p:cBhvr>
                                  <p:cTn id="12" dur="1" fill="hold">
                                    <p:stCondLst>
                                      <p:cond delay="1000"/>
                                    </p:stCondLst>
                                  </p:cTn>
                                  <p:tgtEl>
                                    <p:spTgt spid="38">
                                      <p:txEl>
                                        <p:pRg st="0" end="0"/>
                                      </p:txEl>
                                    </p:spTgt>
                                  </p:tgtEl>
                                  <p:attrNameLst>
                                    <p:attrName>ppt_c</p:attrName>
                                  </p:attrNameLst>
                                </p:cBhvr>
                                <p:to>
                                  <a:srgbClr val="999999"/>
                                </p:to>
                              </p:animClr>
                            </p:childTnLst>
                          </p:cTn>
                        </p:par>
                      </p:childTnLst>
                    </p:cTn>
                  </p:par>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37">
                                            <p:txEl>
                                              <p:pRg st="3" end="3"/>
                                            </p:txEl>
                                          </p:spTgt>
                                        </p:tgtEl>
                                        <p:attrNameLst>
                                          <p:attrName>style.visibility</p:attrName>
                                        </p:attrNameLst>
                                      </p:cBhvr>
                                      <p:to>
                                        <p:strVal val="visible"/>
                                      </p:to>
                                    </p:set>
                                  </p:childTnLst>
                                </p:cTn>
                              </p:par>
                              <p:par>
                                <p:cTn id="17" nodeType="withEffect" fill="hold" presetClass="entr" presetID="1">
                                  <p:stCondLst>
                                    <p:cond delay="0"/>
                                  </p:stCondLst>
                                  <p:childTnLst>
                                    <p:set>
                                      <p:cBhvr>
                                        <p:cTn id="18" dur="1" fill="hold">
                                          <p:stCondLst>
                                            <p:cond delay="0"/>
                                          </p:stCondLst>
                                        </p:cTn>
                                        <p:tgtEl>
                                          <p:spTgt spid="37">
                                            <p:txEl>
                                              <p:pRg st="4" end="4"/>
                                            </p:txEl>
                                          </p:spTgt>
                                        </p:tgtEl>
                                        <p:attrNameLst>
                                          <p:attrName>style.visibility</p:attrName>
                                        </p:attrNameLst>
                                      </p:cBhvr>
                                      <p:to>
                                        <p:strVal val="visible"/>
                                      </p:to>
                                    </p:set>
                                  </p:childTnLst>
                                </p:cTn>
                              </p:par>
                              <p:par>
                                <p:cTn id="19" nodeType="withEffect" fill="hold" presetClass="entr" presetID="1">
                                  <p:stCondLst>
                                    <p:cond delay="0"/>
                                  </p:stCondLst>
                                  <p:childTnLst>
                                    <p:set>
                                      <p:cBhvr>
                                        <p:cTn id="20" dur="1" fill="hold">
                                          <p:stCondLst>
                                            <p:cond delay="0"/>
                                          </p:stCondLst>
                                        </p:cTn>
                                        <p:tgtEl>
                                          <p:spTgt spid="37">
                                            <p:txEl>
                                              <p:pRg st="5" end="5"/>
                                            </p:txEl>
                                          </p:spTgt>
                                        </p:tgtEl>
                                        <p:attrNameLst>
                                          <p:attrName>style.visibility</p:attrName>
                                        </p:attrNameLst>
                                      </p:cBhvr>
                                      <p:to>
                                        <p:strVal val="visible"/>
                                      </p:to>
                                    </p:set>
                                  </p:childTnLst>
                                </p:cTn>
                              </p:par>
                              <p:animClr clrSpc="rgb">
                                <p:cBhvr>
                                  <p:cTn id="21" dur="1" fill="hold">
                                    <p:stCondLst>
                                      <p:cond delay="0"/>
                                    </p:stCondLst>
                                  </p:cTn>
                                  <p:tgtEl>
                                    <p:spTgt spid="37">
                                      <p:txEl>
                                        <p:pRg st="1" end="1"/>
                                      </p:txEl>
                                    </p:spTgt>
                                  </p:tgtEl>
                                  <p:attrNameLst>
                                    <p:attrName>ppt_c</p:attrName>
                                  </p:attrNameLst>
                                </p:cBhvr>
                                <p:to>
                                  <a:srgbClr val="999999"/>
                                </p:to>
                              </p:animClr>
                              <p:animClr clrSpc="rgb">
                                <p:cBhvr>
                                  <p:cTn id="22" dur="1" fill="hold">
                                    <p:stCondLst>
                                      <p:cond delay="0"/>
                                    </p:stCondLst>
                                  </p:cTn>
                                  <p:tgtEl>
                                    <p:spTgt spid="37">
                                      <p:txEl>
                                        <p:pRg st="2" end="2"/>
                                      </p:txEl>
                                    </p:spTgt>
                                  </p:tgtEl>
                                  <p:attrNameLst>
                                    <p:attrName>ppt_c</p:attrName>
                                  </p:attrNameLst>
                                </p:cBhvr>
                                <p:to>
                                  <a:srgbClr val="999999"/>
                                </p:to>
                              </p:animCl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37">
                                            <p:txEl>
                                              <p:pRg st="6" end="6"/>
                                            </p:txEl>
                                          </p:spTgt>
                                        </p:tgtEl>
                                        <p:attrNameLst>
                                          <p:attrName>style.visibility</p:attrName>
                                        </p:attrNameLst>
                                      </p:cBhvr>
                                      <p:to>
                                        <p:strVal val="visible"/>
                                      </p:to>
                                    </p:set>
                                  </p:childTnLst>
                                </p:cTn>
                              </p:par>
                              <p:animClr clrSpc="rgb">
                                <p:cBhvr>
                                  <p:cTn id="27" dur="1" fill="hold">
                                    <p:stCondLst>
                                      <p:cond delay="0"/>
                                    </p:stCondLst>
                                  </p:cTn>
                                  <p:tgtEl>
                                    <p:spTgt spid="37">
                                      <p:txEl>
                                        <p:pRg st="3" end="3"/>
                                      </p:txEl>
                                    </p:spTgt>
                                  </p:tgtEl>
                                  <p:attrNameLst>
                                    <p:attrName>ppt_c</p:attrName>
                                  </p:attrNameLst>
                                </p:cBhvr>
                                <p:to>
                                  <a:srgbClr val="999999"/>
                                </p:to>
                              </p:animClr>
                              <p:animClr clrSpc="rgb">
                                <p:cBhvr>
                                  <p:cTn id="28" dur="1" fill="hold">
                                    <p:stCondLst>
                                      <p:cond delay="0"/>
                                    </p:stCondLst>
                                  </p:cTn>
                                  <p:tgtEl>
                                    <p:spTgt spid="37">
                                      <p:txEl>
                                        <p:pRg st="4" end="4"/>
                                      </p:txEl>
                                    </p:spTgt>
                                  </p:tgtEl>
                                  <p:attrNameLst>
                                    <p:attrName>ppt_c</p:attrName>
                                  </p:attrNameLst>
                                </p:cBhvr>
                                <p:to>
                                  <a:srgbClr val="999999"/>
                                </p:to>
                              </p:animClr>
                              <p:animClr clrSpc="rgb">
                                <p:cBhvr>
                                  <p:cTn id="29" dur="1" fill="hold">
                                    <p:stCondLst>
                                      <p:cond delay="0"/>
                                    </p:stCondLst>
                                  </p:cTn>
                                  <p:tgtEl>
                                    <p:spTgt spid="37">
                                      <p:txEl>
                                        <p:pRg st="5" end="5"/>
                                      </p:txEl>
                                    </p:spTgt>
                                  </p:tgtEl>
                                  <p:attrNameLst>
                                    <p:attrName>ppt_c</p:attrName>
                                  </p:attrNameLst>
                                </p:cBhvr>
                                <p:to>
                                  <a:srgbClr val="999999"/>
                                </p:to>
                              </p:animClr>
                            </p:childTnLst>
                          </p:cTn>
                        </p:par>
                        <p:par>
                          <p:cTn id="30" fill="hold">
                            <p:stCondLst>
                              <p:cond delay="1"/>
                            </p:stCondLst>
                            <p:childTnLst>
                              <p:par>
                                <p:cTn id="31" nodeType="afterEffect" fill="hold" presetClass="entr" presetID="1">
                                  <p:stCondLst>
                                    <p:cond delay="2000"/>
                                  </p:stCondLst>
                                  <p:childTnLst>
                                    <p:set>
                                      <p:cBhvr>
                                        <p:cTn id="32"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540000" y="-3600"/>
            <a:ext cx="9071280" cy="1405440"/>
          </a:xfrm>
          <a:prstGeom prst="rect">
            <a:avLst/>
          </a:prstGeom>
          <a:noFill/>
          <a:ln w="0">
            <a:noFill/>
          </a:ln>
        </p:spPr>
        <p:txBody>
          <a:bodyPr lIns="0" rIns="0" tIns="0" bIns="0" anchor="ctr">
            <a:noAutofit/>
          </a:bodyPr>
          <a:p>
            <a:pPr indent="0">
              <a:lnSpc>
                <a:spcPct val="155000"/>
              </a:lnSpc>
              <a:buNone/>
              <a:tabLst>
                <a:tab algn="l" pos="0"/>
              </a:tabLst>
            </a:pPr>
            <a:r>
              <a:rPr b="1" lang="nl-NL" sz="2400" spc="-1" strike="noStrike">
                <a:solidFill>
                  <a:srgbClr val="125c8d"/>
                </a:solidFill>
                <a:latin typeface="Arial"/>
              </a:rPr>
              <a:t>initiatief stichting BWLvC</a:t>
            </a:r>
            <a:br>
              <a:rPr sz="2400"/>
            </a:br>
            <a:r>
              <a:rPr b="1" lang="nl-NL" sz="2400" spc="-1" strike="noStrike">
                <a:solidFill>
                  <a:srgbClr val="125c8d"/>
                </a:solidFill>
                <a:latin typeface="Arial"/>
              </a:rPr>
              <a:t>                         </a:t>
            </a:r>
            <a:r>
              <a:rPr b="1" lang="nl-NL" sz="4000" spc="-1" strike="noStrike">
                <a:solidFill>
                  <a:srgbClr val="125c8d"/>
                </a:solidFill>
                <a:latin typeface="Arial"/>
              </a:rPr>
              <a:t>Land van Cuijk</a:t>
            </a:r>
            <a:endParaRPr b="0" lang="en-GB" sz="4000" spc="-1" strike="noStrike">
              <a:solidFill>
                <a:srgbClr val="000000"/>
              </a:solidFill>
              <a:latin typeface="Arial"/>
            </a:endParaRPr>
          </a:p>
        </p:txBody>
      </p:sp>
      <p:sp>
        <p:nvSpPr>
          <p:cNvPr id="42" name="PlaceHolder 2"/>
          <p:cNvSpPr>
            <a:spLocks noGrp="1"/>
          </p:cNvSpPr>
          <p:nvPr>
            <p:ph/>
          </p:nvPr>
        </p:nvSpPr>
        <p:spPr>
          <a:xfrm>
            <a:off x="648360" y="1728000"/>
            <a:ext cx="9071280" cy="3136320"/>
          </a:xfrm>
          <a:prstGeom prst="rect">
            <a:avLst/>
          </a:prstGeom>
          <a:noFill/>
          <a:ln w="0">
            <a:noFill/>
          </a:ln>
        </p:spPr>
        <p:txBody>
          <a:bodyPr lIns="0" rIns="0" tIns="0" bIns="0" anchor="t">
            <a:noAutofit/>
          </a:bodyPr>
          <a:p>
            <a:pPr marL="423720" indent="0">
              <a:lnSpc>
                <a:spcPct val="155000"/>
              </a:lnSpc>
              <a:buNone/>
              <a:tabLst>
                <a:tab algn="l" pos="0"/>
              </a:tabLst>
            </a:pPr>
            <a:endParaRPr b="0" lang="en-GB" sz="24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1600" spc="-1" strike="noStrike">
                <a:solidFill>
                  <a:srgbClr val="125c8d"/>
                </a:solidFill>
                <a:latin typeface="Arial"/>
              </a:rPr>
              <a:t>start lokale politiek, kosten bijdrage gem. St. Anthonis, MySense (fijnstof) meetstation, website, rapportages.</a:t>
            </a:r>
            <a:endParaRPr b="0" lang="en-GB" sz="16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1600" spc="-1" strike="noStrike">
                <a:solidFill>
                  <a:srgbClr val="125c8d"/>
                </a:solidFill>
                <a:latin typeface="Arial"/>
              </a:rPr>
              <a:t>2019 start, onafhankelijke metingen, gekalibreerde metingen, verbetering meetstations</a:t>
            </a:r>
            <a:endParaRPr b="0" lang="en-GB" sz="16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1600" spc="-1" strike="noStrike">
                <a:solidFill>
                  <a:srgbClr val="125c8d"/>
                </a:solidFill>
                <a:latin typeface="Arial"/>
              </a:rPr>
              <a:t>doel: Terms of Reference: PM en NH</a:t>
            </a:r>
            <a:r>
              <a:rPr b="0" lang="nl-NL" sz="1600" spc="-1" strike="noStrike" baseline="-8000">
                <a:solidFill>
                  <a:srgbClr val="125c8d"/>
                </a:solidFill>
                <a:latin typeface="Arial"/>
              </a:rPr>
              <a:t>3</a:t>
            </a:r>
            <a:r>
              <a:rPr b="0" lang="nl-NL" sz="1600" spc="-1" strike="noStrike">
                <a:solidFill>
                  <a:srgbClr val="125c8d"/>
                </a:solidFill>
                <a:latin typeface="Arial"/>
              </a:rPr>
              <a:t> metingen, meetfeiten rond emissies bronnen</a:t>
            </a:r>
            <a:endParaRPr b="0" lang="en-GB" sz="16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1600" spc="-1" strike="noStrike">
                <a:solidFill>
                  <a:srgbClr val="125c8d"/>
                </a:solidFill>
                <a:latin typeface="Arial"/>
              </a:rPr>
              <a:t>lokale beleidsvorming:</a:t>
            </a:r>
            <a:endParaRPr b="0" lang="en-GB" sz="1600" spc="-1" strike="noStrike">
              <a:solidFill>
                <a:srgbClr val="000000"/>
              </a:solidFill>
              <a:latin typeface="Arial"/>
            </a:endParaRPr>
          </a:p>
          <a:p>
            <a:pPr marL="423720" indent="0">
              <a:lnSpc>
                <a:spcPct val="155000"/>
              </a:lnSpc>
              <a:buNone/>
              <a:tabLst>
                <a:tab algn="l" pos="0"/>
              </a:tabLst>
            </a:pPr>
            <a:r>
              <a:rPr b="0" lang="nl-NL" sz="1600" spc="-1" strike="noStrike">
                <a:solidFill>
                  <a:srgbClr val="125c8d"/>
                </a:solidFill>
                <a:latin typeface="Arial"/>
              </a:rPr>
              <a:t>constructieve en kwalitatieve inbreng, bewustwording, data analyse</a:t>
            </a:r>
            <a:endParaRPr b="0" lang="en-GB" sz="16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1600" spc="-1" strike="noStrike">
                <a:solidFill>
                  <a:srgbClr val="125c8d"/>
                </a:solidFill>
                <a:latin typeface="Arial"/>
              </a:rPr>
              <a:t>2025 einde: einde budget, demotivatie, achterblijven (lokale) dialoog,</a:t>
            </a:r>
            <a:endParaRPr b="0" lang="en-GB" sz="1600" spc="-1" strike="noStrike">
              <a:solidFill>
                <a:srgbClr val="000000"/>
              </a:solidFill>
              <a:latin typeface="Arial"/>
            </a:endParaRPr>
          </a:p>
          <a:p>
            <a:pPr marL="423720" indent="0">
              <a:lnSpc>
                <a:spcPct val="155000"/>
              </a:lnSpc>
              <a:buNone/>
              <a:tabLst>
                <a:tab algn="l" pos="0"/>
              </a:tabLst>
            </a:pPr>
            <a:r>
              <a:rPr b="0" lang="nl-NL" sz="1600" spc="-1" strike="noStrike">
                <a:solidFill>
                  <a:srgbClr val="125c8d"/>
                </a:solidFill>
                <a:latin typeface="Arial"/>
              </a:rPr>
              <a:t>einde gemeente St. Anthonis</a:t>
            </a:r>
            <a:endParaRPr b="0" lang="en-GB" sz="1600" spc="-1" strike="noStrike">
              <a:solidFill>
                <a:srgbClr val="000000"/>
              </a:solidFill>
              <a:latin typeface="Arial"/>
            </a:endParaRPr>
          </a:p>
        </p:txBody>
      </p:sp>
      <p:sp>
        <p:nvSpPr>
          <p:cNvPr id="43" name=""/>
          <p:cNvSpPr/>
          <p:nvPr/>
        </p:nvSpPr>
        <p:spPr>
          <a:xfrm>
            <a:off x="540000" y="1620000"/>
            <a:ext cx="9359640" cy="539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17"/>
              </a:spcBef>
            </a:pPr>
            <a:r>
              <a:rPr b="0" lang="nl-NL" sz="2200" spc="-1" strike="noStrike">
                <a:solidFill>
                  <a:srgbClr val="125c8d"/>
                </a:solidFill>
                <a:latin typeface="Arial"/>
              </a:rPr>
              <a:t>2018</a:t>
            </a:r>
            <a:r>
              <a:rPr b="0" lang="nl-NL" sz="2600" spc="-1" strike="noStrike">
                <a:solidFill>
                  <a:srgbClr val="125c8d"/>
                </a:solidFill>
                <a:latin typeface="Arial"/>
              </a:rPr>
              <a:t> emissies bio-industrie: vleesvarkens, vlees- en legkippen</a:t>
            </a:r>
            <a:endParaRPr b="0" lang="en-GB" sz="2600" spc="-1" strike="noStrike">
              <a:solidFill>
                <a:srgbClr val="000000"/>
              </a:solidFill>
              <a:latin typeface="Arial"/>
            </a:endParaRPr>
          </a:p>
        </p:txBody>
      </p:sp>
      <p:sp>
        <p:nvSpPr>
          <p:cNvPr id="44" name=""/>
          <p:cNvSpPr/>
          <p:nvPr/>
        </p:nvSpPr>
        <p:spPr>
          <a:xfrm>
            <a:off x="540000" y="5112000"/>
            <a:ext cx="7559640" cy="3596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17"/>
              </a:spcBef>
            </a:pPr>
            <a:r>
              <a:rPr b="0" lang="nl-NL" sz="1800" spc="-1" strike="noStrike">
                <a:solidFill>
                  <a:srgbClr val="125c8d"/>
                </a:solidFill>
                <a:latin typeface="Arial"/>
              </a:rPr>
              <a:t>referentie:</a:t>
            </a:r>
            <a:r>
              <a:rPr b="0" lang="nl-NL" sz="1800" spc="-1" strike="noStrike">
                <a:solidFill>
                  <a:srgbClr val="3465a4"/>
                </a:solidFill>
                <a:latin typeface="Arial"/>
              </a:rPr>
              <a:t> </a:t>
            </a:r>
            <a:r>
              <a:rPr b="0" lang="nl-NL" sz="1800" spc="-1" strike="noStrike" u="sng">
                <a:solidFill>
                  <a:srgbClr val="3465a4"/>
                </a:solidFill>
                <a:uFillTx/>
                <a:latin typeface="Arial"/>
                <a:hlinkClick r:id="rId1"/>
              </a:rPr>
              <a:t>CASUS Land van Cuijk</a:t>
            </a:r>
            <a:endParaRPr b="0" lang="en-GB" sz="1800" spc="-1" strike="noStrike">
              <a:solidFill>
                <a:srgbClr val="000000"/>
              </a:solidFill>
              <a:latin typeface="Arial"/>
            </a:endParaRPr>
          </a:p>
        </p:txBody>
      </p:sp>
      <p:pic>
        <p:nvPicPr>
          <p:cNvPr id="45" name="" descr=""/>
          <p:cNvPicPr/>
          <p:nvPr/>
        </p:nvPicPr>
        <p:blipFill>
          <a:blip r:embed="rId2"/>
          <a:stretch/>
        </p:blipFill>
        <p:spPr>
          <a:xfrm>
            <a:off x="8820000" y="180000"/>
            <a:ext cx="741240" cy="1637640"/>
          </a:xfrm>
          <a:prstGeom prst="rect">
            <a:avLst/>
          </a:prstGeom>
          <a:ln w="0">
            <a:noFill/>
          </a:ln>
        </p:spPr>
      </p:pic>
    </p:spTree>
  </p:cSld>
  <mc:AlternateContent>
    <mc:Choice Requires="p14">
      <p:transition spd="slow" p14:dur="2000"/>
    </mc:Choice>
    <mc:Fallback>
      <p:transition spd="slow"/>
    </mc:Fallback>
  </mc:AlternateContent>
  <p:timing>
    <p:tnLst>
      <p:par>
        <p:cTn id="33" dur="indefinite" restart="never" nodeType="tmRoot">
          <p:childTnLst>
            <p:seq>
              <p:cTn id="34" dur="indefinite" nodeType="mainSeq">
                <p:childTnLst>
                  <p:par>
                    <p:cTn id="35" fill="hold">
                      <p:stCondLst>
                        <p:cond delay="0"/>
                      </p:stCondLst>
                      <p:childTnLst>
                        <p:par>
                          <p:cTn id="36" fill="hold">
                            <p:stCondLst>
                              <p:cond delay="0"/>
                            </p:stCondLst>
                            <p:childTnLst>
                              <p:par>
                                <p:cTn id="37" nodeType="afterEffect" fill="hold" presetClass="entr" presetID="1">
                                  <p:stCondLst>
                                    <p:cond delay="1000"/>
                                  </p:stCondLst>
                                  <p:childTnLst>
                                    <p:set>
                                      <p:cBhvr>
                                        <p:cTn id="38" dur="1" fill="hold">
                                          <p:stCondLst>
                                            <p:cond delay="0"/>
                                          </p:stCondLst>
                                        </p:cTn>
                                        <p:tgtEl>
                                          <p:spTgt spid="43">
                                            <p:txEl>
                                              <p:pRg st="0" end="0"/>
                                            </p:txEl>
                                          </p:spTgt>
                                        </p:tgtEl>
                                        <p:attrNameLst>
                                          <p:attrName>style.visibility</p:attrName>
                                        </p:attrNameLst>
                                      </p:cBhvr>
                                      <p:to>
                                        <p:strVal val="visible"/>
                                      </p:to>
                                    </p:set>
                                  </p:childTnLst>
                                </p:cTn>
                              </p:par>
                            </p:childTnLst>
                          </p:cTn>
                        </p:par>
                        <p:par>
                          <p:cTn id="39" fill="hold">
                            <p:stCondLst>
                              <p:cond delay="1000"/>
                            </p:stCondLst>
                            <p:childTnLst>
                              <p:par>
                                <p:cTn id="40" nodeType="afterEffect" fill="hold" presetClass="entr" presetID="1">
                                  <p:stCondLst>
                                    <p:cond delay="2000"/>
                                  </p:stCondLst>
                                  <p:childTnLst>
                                    <p:set>
                                      <p:cBhvr>
                                        <p:cTn id="41" dur="1" fill="hold">
                                          <p:stCondLst>
                                            <p:cond delay="0"/>
                                          </p:stCondLst>
                                        </p:cTn>
                                        <p:tgtEl>
                                          <p:spTgt spid="42">
                                            <p:txEl>
                                              <p:pRg st="1" end="1"/>
                                            </p:txEl>
                                          </p:spTgt>
                                        </p:tgtEl>
                                        <p:attrNameLst>
                                          <p:attrName>style.visibility</p:attrName>
                                        </p:attrNameLst>
                                      </p:cBhvr>
                                      <p:to>
                                        <p:strVal val="visible"/>
                                      </p:to>
                                    </p:set>
                                  </p:childTnLst>
                                </p:cTn>
                              </p:par>
                              <p:par>
                                <p:cTn id="42" nodeType="withEffect" fill="hold" presetClass="entr" presetID="1">
                                  <p:stCondLst>
                                    <p:cond delay="2000"/>
                                  </p:stCondLst>
                                  <p:childTnLst>
                                    <p:set>
                                      <p:cBhvr>
                                        <p:cTn id="43" dur="1" fill="hold">
                                          <p:stCondLst>
                                            <p:cond delay="0"/>
                                          </p:stCondLst>
                                        </p:cTn>
                                        <p:tgtEl>
                                          <p:spTgt spid="42">
                                            <p:txEl>
                                              <p:pRg st="2" end="2"/>
                                            </p:txEl>
                                          </p:spTgt>
                                        </p:tgtEl>
                                        <p:attrNameLst>
                                          <p:attrName>style.visibility</p:attrName>
                                        </p:attrNameLst>
                                      </p:cBhvr>
                                      <p:to>
                                        <p:strVal val="visible"/>
                                      </p:to>
                                    </p:set>
                                  </p:childTnLst>
                                </p:cTn>
                              </p:par>
                              <p:animClr clrSpc="rgb">
                                <p:cBhvr>
                                  <p:cTn id="44" dur="1" fill="hold">
                                    <p:stCondLst>
                                      <p:cond delay="2000"/>
                                    </p:stCondLst>
                                  </p:cTn>
                                  <p:tgtEl>
                                    <p:spTgt spid="43">
                                      <p:txEl>
                                        <p:pRg st="0" end="0"/>
                                      </p:txEl>
                                    </p:spTgt>
                                  </p:tgtEl>
                                  <p:attrNameLst>
                                    <p:attrName>ppt_c</p:attrName>
                                  </p:attrNameLst>
                                </p:cBhvr>
                                <p:to>
                                  <a:srgbClr val="999999"/>
                                </p:to>
                              </p:animClr>
                            </p:childTnLst>
                          </p:cTn>
                        </p:par>
                      </p:childTnLst>
                    </p:cTn>
                  </p:par>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42">
                                            <p:txEl>
                                              <p:pRg st="3" end="3"/>
                                            </p:txEl>
                                          </p:spTgt>
                                        </p:tgtEl>
                                        <p:attrNameLst>
                                          <p:attrName>style.visibility</p:attrName>
                                        </p:attrNameLst>
                                      </p:cBhvr>
                                      <p:to>
                                        <p:strVal val="visible"/>
                                      </p:to>
                                    </p:set>
                                  </p:childTnLst>
                                </p:cTn>
                              </p:par>
                              <p:par>
                                <p:cTn id="49" nodeType="withEffect" fill="hold" presetClass="entr" presetID="1">
                                  <p:stCondLst>
                                    <p:cond delay="0"/>
                                  </p:stCondLst>
                                  <p:childTnLst>
                                    <p:set>
                                      <p:cBhvr>
                                        <p:cTn id="50" dur="1" fill="hold">
                                          <p:stCondLst>
                                            <p:cond delay="0"/>
                                          </p:stCondLst>
                                        </p:cTn>
                                        <p:tgtEl>
                                          <p:spTgt spid="42">
                                            <p:txEl>
                                              <p:pRg st="4" end="4"/>
                                            </p:txEl>
                                          </p:spTgt>
                                        </p:tgtEl>
                                        <p:attrNameLst>
                                          <p:attrName>style.visibility</p:attrName>
                                        </p:attrNameLst>
                                      </p:cBhvr>
                                      <p:to>
                                        <p:strVal val="visible"/>
                                      </p:to>
                                    </p:set>
                                  </p:childTnLst>
                                </p:cTn>
                              </p:par>
                              <p:par>
                                <p:cTn id="51" nodeType="withEffect" fill="hold" presetClass="entr" presetID="1">
                                  <p:stCondLst>
                                    <p:cond delay="0"/>
                                  </p:stCondLst>
                                  <p:childTnLst>
                                    <p:set>
                                      <p:cBhvr>
                                        <p:cTn id="52" dur="1" fill="hold">
                                          <p:stCondLst>
                                            <p:cond delay="0"/>
                                          </p:stCondLst>
                                        </p:cTn>
                                        <p:tgtEl>
                                          <p:spTgt spid="42">
                                            <p:txEl>
                                              <p:pRg st="5" end="5"/>
                                            </p:txEl>
                                          </p:spTgt>
                                        </p:tgtEl>
                                        <p:attrNameLst>
                                          <p:attrName>style.visibility</p:attrName>
                                        </p:attrNameLst>
                                      </p:cBhvr>
                                      <p:to>
                                        <p:strVal val="visible"/>
                                      </p:to>
                                    </p:set>
                                  </p:childTnLst>
                                </p:cTn>
                              </p:par>
                              <p:animClr clrSpc="rgb">
                                <p:cBhvr>
                                  <p:cTn id="53" dur="1" fill="hold">
                                    <p:stCondLst>
                                      <p:cond delay="0"/>
                                    </p:stCondLst>
                                  </p:cTn>
                                  <p:tgtEl>
                                    <p:spTgt spid="42">
                                      <p:txEl>
                                        <p:pRg st="1" end="1"/>
                                      </p:txEl>
                                    </p:spTgt>
                                  </p:tgtEl>
                                  <p:attrNameLst>
                                    <p:attrName>ppt_c</p:attrName>
                                  </p:attrNameLst>
                                </p:cBhvr>
                                <p:to>
                                  <a:srgbClr val="999999"/>
                                </p:to>
                              </p:animClr>
                              <p:animClr clrSpc="rgb">
                                <p:cBhvr>
                                  <p:cTn id="54" dur="1" fill="hold">
                                    <p:stCondLst>
                                      <p:cond delay="0"/>
                                    </p:stCondLst>
                                  </p:cTn>
                                  <p:tgtEl>
                                    <p:spTgt spid="42">
                                      <p:txEl>
                                        <p:pRg st="2" end="2"/>
                                      </p:txEl>
                                    </p:spTgt>
                                  </p:tgtEl>
                                  <p:attrNameLst>
                                    <p:attrName>ppt_c</p:attrName>
                                  </p:attrNameLst>
                                </p:cBhvr>
                                <p:to>
                                  <a:srgbClr val="999999"/>
                                </p:to>
                              </p:animCl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42">
                                            <p:txEl>
                                              <p:pRg st="6" end="6"/>
                                            </p:txEl>
                                          </p:spTgt>
                                        </p:tgtEl>
                                        <p:attrNameLst>
                                          <p:attrName>style.visibility</p:attrName>
                                        </p:attrNameLst>
                                      </p:cBhvr>
                                      <p:to>
                                        <p:strVal val="visible"/>
                                      </p:to>
                                    </p:set>
                                  </p:childTnLst>
                                </p:cTn>
                              </p:par>
                              <p:par>
                                <p:cTn id="59" nodeType="withEffect" fill="hold" presetClass="entr" presetID="1">
                                  <p:stCondLst>
                                    <p:cond delay="0"/>
                                  </p:stCondLst>
                                  <p:childTnLst>
                                    <p:set>
                                      <p:cBhvr>
                                        <p:cTn id="60" dur="1" fill="hold">
                                          <p:stCondLst>
                                            <p:cond delay="0"/>
                                          </p:stCondLst>
                                        </p:cTn>
                                        <p:tgtEl>
                                          <p:spTgt spid="42">
                                            <p:txEl>
                                              <p:pRg st="7" end="7"/>
                                            </p:txEl>
                                          </p:spTgt>
                                        </p:tgtEl>
                                        <p:attrNameLst>
                                          <p:attrName>style.visibility</p:attrName>
                                        </p:attrNameLst>
                                      </p:cBhvr>
                                      <p:to>
                                        <p:strVal val="visible"/>
                                      </p:to>
                                    </p:set>
                                  </p:childTnLst>
                                </p:cTn>
                              </p:par>
                              <p:animClr clrSpc="rgb">
                                <p:cBhvr>
                                  <p:cTn id="61" dur="1" fill="hold">
                                    <p:stCondLst>
                                      <p:cond delay="0"/>
                                    </p:stCondLst>
                                  </p:cTn>
                                  <p:tgtEl>
                                    <p:spTgt spid="42">
                                      <p:txEl>
                                        <p:pRg st="3" end="3"/>
                                      </p:txEl>
                                    </p:spTgt>
                                  </p:tgtEl>
                                  <p:attrNameLst>
                                    <p:attrName>ppt_c</p:attrName>
                                  </p:attrNameLst>
                                </p:cBhvr>
                                <p:to>
                                  <a:srgbClr val="999999"/>
                                </p:to>
                              </p:animClr>
                              <p:animClr clrSpc="rgb">
                                <p:cBhvr>
                                  <p:cTn id="62" dur="1" fill="hold">
                                    <p:stCondLst>
                                      <p:cond delay="0"/>
                                    </p:stCondLst>
                                  </p:cTn>
                                  <p:tgtEl>
                                    <p:spTgt spid="42">
                                      <p:txEl>
                                        <p:pRg st="4" end="4"/>
                                      </p:txEl>
                                    </p:spTgt>
                                  </p:tgtEl>
                                  <p:attrNameLst>
                                    <p:attrName>ppt_c</p:attrName>
                                  </p:attrNameLst>
                                </p:cBhvr>
                                <p:to>
                                  <a:srgbClr val="999999"/>
                                </p:to>
                              </p:animClr>
                              <p:animClr clrSpc="rgb">
                                <p:cBhvr>
                                  <p:cTn id="63" dur="1" fill="hold">
                                    <p:stCondLst>
                                      <p:cond delay="0"/>
                                    </p:stCondLst>
                                  </p:cTn>
                                  <p:tgtEl>
                                    <p:spTgt spid="42">
                                      <p:txEl>
                                        <p:pRg st="5" end="5"/>
                                      </p:txEl>
                                    </p:spTgt>
                                  </p:tgtEl>
                                  <p:attrNameLst>
                                    <p:attrName>ppt_c</p:attrName>
                                  </p:attrNameLst>
                                </p:cBhvr>
                                <p:to>
                                  <a:srgbClr val="999999"/>
                                </p:to>
                              </p:animClr>
                            </p:childTnLst>
                          </p:cTn>
                        </p:par>
                        <p:par>
                          <p:cTn id="64" fill="hold">
                            <p:stCondLst>
                              <p:cond delay="1"/>
                            </p:stCondLst>
                            <p:childTnLst>
                              <p:par>
                                <p:cTn id="65" nodeType="afterEffect" fill="hold" presetClass="entr" presetID="1">
                                  <p:stCondLst>
                                    <p:cond delay="2000"/>
                                  </p:stCondLst>
                                  <p:childTnLst>
                                    <p:set>
                                      <p:cBhvr>
                                        <p:cTn id="66"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720000" y="384120"/>
            <a:ext cx="8599320" cy="695160"/>
          </a:xfrm>
          <a:prstGeom prst="rect">
            <a:avLst/>
          </a:prstGeom>
          <a:noFill/>
          <a:ln w="0">
            <a:noFill/>
          </a:ln>
        </p:spPr>
        <p:txBody>
          <a:bodyPr lIns="0" rIns="0" tIns="0" bIns="0" anchor="ctr">
            <a:noAutofit/>
          </a:bodyPr>
          <a:p>
            <a:pPr indent="0">
              <a:lnSpc>
                <a:spcPct val="155000"/>
              </a:lnSpc>
              <a:buNone/>
              <a:tabLst>
                <a:tab algn="l" pos="0"/>
              </a:tabLst>
            </a:pPr>
            <a:r>
              <a:rPr b="1" lang="nl-NL" sz="2400" spc="-1" strike="noStrike">
                <a:solidFill>
                  <a:srgbClr val="125c8d"/>
                </a:solidFill>
                <a:latin typeface="Arial"/>
              </a:rPr>
              <a:t>wat en hoe nu gaan we nu samen verder ?</a:t>
            </a:r>
            <a:endParaRPr b="0" lang="en-GB" sz="2400" spc="-1" strike="noStrike">
              <a:solidFill>
                <a:srgbClr val="000000"/>
              </a:solidFill>
              <a:latin typeface="Arial"/>
            </a:endParaRPr>
          </a:p>
        </p:txBody>
      </p:sp>
      <p:sp>
        <p:nvSpPr>
          <p:cNvPr id="47" name="PlaceHolder 2"/>
          <p:cNvSpPr>
            <a:spLocks noGrp="1"/>
          </p:cNvSpPr>
          <p:nvPr>
            <p:ph/>
          </p:nvPr>
        </p:nvSpPr>
        <p:spPr>
          <a:xfrm>
            <a:off x="740880" y="1575360"/>
            <a:ext cx="8975520" cy="4147200"/>
          </a:xfrm>
          <a:prstGeom prst="rect">
            <a:avLst/>
          </a:prstGeom>
          <a:noFill/>
          <a:ln w="0">
            <a:noFill/>
          </a:ln>
        </p:spPr>
        <p:txBody>
          <a:bodyPr lIns="0" rIns="0" tIns="0" bIns="0" anchor="t">
            <a:noAutofit/>
          </a:bodyPr>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2400" spc="-1" strike="noStrike">
                <a:solidFill>
                  <a:srgbClr val="125c8d"/>
                </a:solidFill>
                <a:latin typeface="Arial"/>
              </a:rPr>
              <a:t>doel luchtkwaliteitsmetingen en wat is er bereikt</a:t>
            </a:r>
            <a:endParaRPr b="0" lang="en-GB" sz="24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2400" spc="-1" strike="noStrike">
                <a:solidFill>
                  <a:srgbClr val="125c8d"/>
                </a:solidFill>
                <a:latin typeface="Arial"/>
              </a:rPr>
              <a:t>aanleiding tot schrijven van de brandbrief</a:t>
            </a:r>
            <a:endParaRPr b="0" lang="en-GB" sz="2400" spc="-1" strike="noStrike">
              <a:solidFill>
                <a:srgbClr val="000000"/>
              </a:solidFill>
              <a:latin typeface="Arial"/>
            </a:endParaRPr>
          </a:p>
          <a:p>
            <a:pPr marL="423720" indent="0">
              <a:lnSpc>
                <a:spcPct val="155000"/>
              </a:lnSpc>
              <a:buNone/>
              <a:tabLst>
                <a:tab algn="l" pos="0"/>
              </a:tabLst>
            </a:pPr>
            <a:endParaRPr b="0" lang="en-GB" sz="2400" spc="-1" strike="noStrike">
              <a:solidFill>
                <a:srgbClr val="000000"/>
              </a:solidFill>
              <a:latin typeface="Arial"/>
            </a:endParaRPr>
          </a:p>
          <a:p>
            <a:pPr marL="423720" indent="0">
              <a:lnSpc>
                <a:spcPct val="155000"/>
              </a:lnSpc>
              <a:buNone/>
              <a:tabLst>
                <a:tab algn="l" pos="0"/>
              </a:tabLst>
            </a:pPr>
            <a:endParaRPr b="0" lang="en-GB" sz="24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2400" spc="-1" strike="noStrike">
                <a:solidFill>
                  <a:srgbClr val="125c8d"/>
                </a:solidFill>
                <a:latin typeface="Arial"/>
              </a:rPr>
              <a:t>overwegingen en wederzijdse verwachtingen</a:t>
            </a:r>
            <a:endParaRPr b="0" lang="en-GB" sz="2400" spc="-1" strike="noStrike">
              <a:solidFill>
                <a:srgbClr val="000000"/>
              </a:solidFill>
              <a:latin typeface="Arial"/>
            </a:endParaRPr>
          </a:p>
          <a:p>
            <a:pPr marL="423720" indent="-318960">
              <a:lnSpc>
                <a:spcPct val="155000"/>
              </a:lnSpc>
              <a:buClr>
                <a:srgbClr val="11568c"/>
              </a:buClr>
              <a:buSzPct val="45000"/>
              <a:buFont typeface="DejaVu Sans"/>
              <a:buChar char="⧫"/>
              <a:tabLst>
                <a:tab algn="l" pos="25200"/>
                <a:tab algn="l" pos="474480"/>
                <a:tab algn="l" pos="923760"/>
                <a:tab algn="l" pos="1373040"/>
                <a:tab algn="l" pos="1822320"/>
                <a:tab algn="l" pos="2271600"/>
                <a:tab algn="l" pos="2720880"/>
                <a:tab algn="l" pos="3170160"/>
                <a:tab algn="l" pos="3619440"/>
                <a:tab algn="l" pos="4068720"/>
                <a:tab algn="l" pos="4518000"/>
                <a:tab algn="l" pos="4967280"/>
                <a:tab algn="l" pos="5416200"/>
                <a:tab algn="l" pos="5865480"/>
                <a:tab algn="l" pos="6314760"/>
                <a:tab algn="l" pos="6764040"/>
                <a:tab algn="l" pos="7213320"/>
                <a:tab algn="l" pos="7662600"/>
                <a:tab algn="l" pos="8111880"/>
                <a:tab algn="l" pos="8561160"/>
              </a:tabLst>
            </a:pPr>
            <a:r>
              <a:rPr b="0" lang="nl-NL" sz="2400" spc="-1" strike="noStrike">
                <a:solidFill>
                  <a:srgbClr val="125c8d"/>
                </a:solidFill>
                <a:latin typeface="Arial"/>
              </a:rPr>
              <a:t>referentie materiaal (leesvoer voor thuis)</a:t>
            </a:r>
            <a:endParaRPr b="0" lang="en-GB"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67" dur="indefinite" restart="never" nodeType="tmRoot">
          <p:childTnLst>
            <p:seq>
              <p:cTn id="68" dur="indefinite" nodeType="mainSeq">
                <p:childTnLst>
                  <p:par>
                    <p:cTn id="69" fill="hold">
                      <p:stCondLst>
                        <p:cond delay="indefinite"/>
                      </p:stCondLst>
                      <p:childTnLst>
                        <p:par>
                          <p:cTn id="70" fill="hold">
                            <p:stCondLst>
                              <p:cond delay="0"/>
                            </p:stCondLst>
                            <p:childTnLst>
                              <p:par>
                                <p:cTn id="71" nodeType="clickEffect" fill="hold" presetClass="entr" presetID="1">
                                  <p:stCondLst>
                                    <p:cond delay="0"/>
                                  </p:stCondLst>
                                  <p:childTnLst>
                                    <p:set>
                                      <p:cBhvr>
                                        <p:cTn id="72" dur="1" fill="hold">
                                          <p:stCondLst>
                                            <p:cond delay="0"/>
                                          </p:stCondLst>
                                        </p:cTn>
                                        <p:tgtEl>
                                          <p:spTgt spid="47">
                                            <p:txEl>
                                              <p:pRg st="0" end="0"/>
                                            </p:txEl>
                                          </p:spTgt>
                                        </p:tgtEl>
                                        <p:attrNameLst>
                                          <p:attrName>style.visibility</p:attrName>
                                        </p:attrNameLst>
                                      </p:cBhvr>
                                      <p:to>
                                        <p:strVal val="visible"/>
                                      </p:to>
                                    </p:set>
                                  </p:childTnLst>
                                </p:cTn>
                              </p:par>
                            </p:childTnLst>
                          </p:cTn>
                        </p:par>
                        <p:par>
                          <p:cTn id="73" fill="hold">
                            <p:stCondLst>
                              <p:cond delay="1"/>
                            </p:stCondLst>
                            <p:childTnLst>
                              <p:par>
                                <p:cTn id="74" nodeType="afterEffect" fill="hold" presetClass="entr" presetID="1">
                                  <p:stCondLst>
                                    <p:cond delay="0"/>
                                  </p:stCondLst>
                                  <p:childTnLst>
                                    <p:set>
                                      <p:cBhvr>
                                        <p:cTn id="75" dur="1" fill="hold">
                                          <p:stCondLst>
                                            <p:cond delay="0"/>
                                          </p:stCondLst>
                                        </p:cTn>
                                        <p:tgtEl>
                                          <p:spTgt spid="47">
                                            <p:txEl>
                                              <p:pRg st="1" end="1"/>
                                            </p:txEl>
                                          </p:spTgt>
                                        </p:tgtEl>
                                        <p:attrNameLst>
                                          <p:attrName>style.visibility</p:attrName>
                                        </p:attrNameLst>
                                      </p:cBhvr>
                                      <p:to>
                                        <p:strVal val="visible"/>
                                      </p:to>
                                    </p:set>
                                  </p:childTnLst>
                                </p:cTn>
                              </p:par>
                            </p:childTnLst>
                          </p:cTn>
                        </p:par>
                        <p:par>
                          <p:cTn id="76" fill="hold">
                            <p:stCondLst>
                              <p:cond delay="2"/>
                            </p:stCondLst>
                            <p:childTnLst>
                              <p:par>
                                <p:cTn id="77" nodeType="afterEffect" fill="hold" presetClass="entr" presetID="1">
                                  <p:stCondLst>
                                    <p:cond delay="1000"/>
                                  </p:stCondLst>
                                  <p:childTnLst>
                                    <p:set>
                                      <p:cBhvr>
                                        <p:cTn id="78" dur="1" fill="hold">
                                          <p:stCondLst>
                                            <p:cond delay="0"/>
                                          </p:stCondLst>
                                        </p:cTn>
                                        <p:tgtEl>
                                          <p:spTgt spid="47">
                                            <p:txEl>
                                              <p:pRg st="4" end="4"/>
                                            </p:txEl>
                                          </p:spTgt>
                                        </p:tgtEl>
                                        <p:attrNameLst>
                                          <p:attrName>style.visibility</p:attrName>
                                        </p:attrNameLst>
                                      </p:cBhvr>
                                      <p:to>
                                        <p:strVal val="visible"/>
                                      </p:to>
                                    </p:set>
                                  </p:childTnLst>
                                </p:cTn>
                              </p:par>
                            </p:childTnLst>
                          </p:cTn>
                        </p:par>
                        <p:par>
                          <p:cTn id="79" fill="hold">
                            <p:stCondLst>
                              <p:cond delay="1002"/>
                            </p:stCondLst>
                            <p:childTnLst>
                              <p:par>
                                <p:cTn id="80" nodeType="afterEffect" fill="hold" presetClass="entr" presetID="1">
                                  <p:stCondLst>
                                    <p:cond delay="0"/>
                                  </p:stCondLst>
                                  <p:childTnLst>
                                    <p:set>
                                      <p:cBhvr>
                                        <p:cTn id="81" dur="1" fill="hold">
                                          <p:stCondLst>
                                            <p:cond delay="0"/>
                                          </p:stCondLst>
                                        </p:cTn>
                                        <p:tgtEl>
                                          <p:spTgt spid="47">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540000" y="-32760"/>
            <a:ext cx="9071280" cy="1463400"/>
          </a:xfrm>
          <a:prstGeom prst="rect">
            <a:avLst/>
          </a:prstGeom>
          <a:noFill/>
          <a:ln w="0">
            <a:noFill/>
          </a:ln>
        </p:spPr>
        <p:txBody>
          <a:bodyPr lIns="0" rIns="0" tIns="0" bIns="0" anchor="ctr">
            <a:noAutofit/>
          </a:bodyPr>
          <a:p>
            <a:pPr indent="0" algn="ctr">
              <a:lnSpc>
                <a:spcPct val="100000"/>
              </a:lnSpc>
              <a:buNone/>
              <a:tabLst>
                <a:tab algn="l" pos="0"/>
              </a:tabLst>
            </a:pPr>
            <a:r>
              <a:rPr b="1" lang="nl-NL" sz="3200" spc="-1" strike="noStrike">
                <a:solidFill>
                  <a:srgbClr val="11568c"/>
                </a:solidFill>
                <a:latin typeface="Arial"/>
              </a:rPr>
              <a:t>Citizen Science</a:t>
            </a:r>
            <a:br>
              <a:rPr sz="3200"/>
            </a:br>
            <a:r>
              <a:rPr b="1" lang="nl-NL" sz="3200" spc="-1" strike="noStrike">
                <a:solidFill>
                  <a:srgbClr val="11568c"/>
                </a:solidFill>
                <a:latin typeface="Arial"/>
              </a:rPr>
              <a:t>en </a:t>
            </a:r>
            <a:br>
              <a:rPr sz="3200"/>
            </a:br>
            <a:r>
              <a:rPr b="1" lang="nl-NL" sz="3200" spc="-1" strike="noStrike">
                <a:solidFill>
                  <a:srgbClr val="11568c"/>
                </a:solidFill>
                <a:latin typeface="Arial"/>
              </a:rPr>
              <a:t>luchtkwaliteitsmetingen</a:t>
            </a:r>
            <a:endParaRPr b="0" lang="en-GB" sz="3200" spc="-1" strike="noStrike">
              <a:solidFill>
                <a:srgbClr val="000000"/>
              </a:solidFill>
              <a:latin typeface="Arial"/>
            </a:endParaRPr>
          </a:p>
        </p:txBody>
      </p:sp>
      <p:sp>
        <p:nvSpPr>
          <p:cNvPr id="49" name="PlaceHolder 2"/>
          <p:cNvSpPr>
            <a:spLocks noGrp="1"/>
          </p:cNvSpPr>
          <p:nvPr>
            <p:ph/>
          </p:nvPr>
        </p:nvSpPr>
        <p:spPr>
          <a:xfrm>
            <a:off x="648360" y="1368000"/>
            <a:ext cx="9071280" cy="4031640"/>
          </a:xfrm>
          <a:prstGeom prst="rect">
            <a:avLst/>
          </a:prstGeom>
          <a:noFill/>
          <a:ln w="0">
            <a:noFill/>
          </a:ln>
        </p:spPr>
        <p:txBody>
          <a:bodyPr lIns="0" rIns="0" tIns="0" bIns="0" anchor="t">
            <a:normAutofit fontScale="37222" lnSpcReduction="10000"/>
          </a:bodyPr>
          <a:p>
            <a:pPr marL="432000" indent="0">
              <a:lnSpc>
                <a:spcPct val="100000"/>
              </a:lnSpc>
              <a:spcBef>
                <a:spcPts val="1417"/>
              </a:spcBef>
              <a:buNone/>
              <a:tabLst>
                <a:tab algn="l" pos="0"/>
              </a:tabLst>
            </a:pPr>
            <a:endParaRPr b="0" lang="en-GB" sz="32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tabLst>
                <a:tab algn="l" pos="0"/>
              </a:tabLst>
            </a:pPr>
            <a:r>
              <a:rPr b="1" lang="nl-NL" sz="4200" spc="-1" strike="noStrike">
                <a:solidFill>
                  <a:srgbClr val="125c8d"/>
                </a:solidFill>
                <a:latin typeface="Arial"/>
              </a:rPr>
              <a:t>doel:</a:t>
            </a:r>
            <a:endParaRPr b="0" lang="en-GB" sz="4200" spc="-1" strike="noStrike">
              <a:solidFill>
                <a:srgbClr val="000000"/>
              </a:solidFill>
              <a:latin typeface="Arial"/>
            </a:endParaRPr>
          </a:p>
          <a:p>
            <a:pPr lvl="2" marL="1296000" indent="-288000">
              <a:lnSpc>
                <a:spcPct val="100000"/>
              </a:lnSpc>
              <a:spcBef>
                <a:spcPts val="850"/>
              </a:spcBef>
              <a:buClr>
                <a:srgbClr val="000000"/>
              </a:buClr>
              <a:buSzPct val="45000"/>
              <a:buFont typeface="Wingdings" charset="2"/>
              <a:buChar char=""/>
              <a:tabLst>
                <a:tab algn="l" pos="0"/>
              </a:tabLst>
            </a:pPr>
            <a:r>
              <a:rPr b="1" lang="nl-NL" sz="3200" spc="-1" strike="noStrike">
                <a:solidFill>
                  <a:srgbClr val="125c8d"/>
                </a:solidFill>
                <a:latin typeface="Arial"/>
              </a:rPr>
              <a:t>Inzicht te bieden in de luchtkwaliteit en de gezondheidseffecten daarvan, zich actief inzetten voor gezonde lucht in de gemeente, duiden en kwantificeren van effect van maatregelen door ondernemer en lokale overheid.</a:t>
            </a:r>
            <a:endParaRPr b="0" lang="en-GB" sz="32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tabLst>
                <a:tab algn="l" pos="0"/>
              </a:tabLst>
            </a:pPr>
            <a:r>
              <a:rPr b="1" lang="nl-NL" sz="4200" spc="-1" strike="noStrike">
                <a:solidFill>
                  <a:srgbClr val="125c8d"/>
                </a:solidFill>
                <a:latin typeface="Arial"/>
              </a:rPr>
              <a:t>uitgangspunten:</a:t>
            </a:r>
            <a:endParaRPr b="0" lang="en-GB" sz="4200" spc="-1" strike="noStrike">
              <a:solidFill>
                <a:srgbClr val="000000"/>
              </a:solidFill>
              <a:latin typeface="Arial"/>
            </a:endParaRPr>
          </a:p>
          <a:p>
            <a:pPr lvl="2" marL="1296000" indent="-288000">
              <a:lnSpc>
                <a:spcPct val="100000"/>
              </a:lnSpc>
              <a:spcBef>
                <a:spcPts val="850"/>
              </a:spcBef>
              <a:buClr>
                <a:srgbClr val="000000"/>
              </a:buClr>
              <a:buSzPct val="45000"/>
              <a:buFont typeface="Wingdings" charset="2"/>
              <a:buChar char=""/>
              <a:tabLst>
                <a:tab algn="l" pos="0"/>
              </a:tabLst>
            </a:pPr>
            <a:r>
              <a:rPr b="1" lang="nl-NL" sz="3200" spc="-1" strike="noStrike">
                <a:solidFill>
                  <a:srgbClr val="125c8d"/>
                </a:solidFill>
                <a:latin typeface="Arial"/>
              </a:rPr>
              <a:t>onafhankelijke, kwalitatief en goed geïnformeerde aanpak van meten en analyseren.</a:t>
            </a:r>
            <a:endParaRPr b="0" lang="en-GB" sz="3200" spc="-1" strike="noStrike">
              <a:solidFill>
                <a:srgbClr val="000000"/>
              </a:solidFill>
              <a:latin typeface="Arial"/>
            </a:endParaRPr>
          </a:p>
          <a:p>
            <a:pPr lvl="2" marL="1296000" indent="-288000">
              <a:lnSpc>
                <a:spcPct val="100000"/>
              </a:lnSpc>
              <a:spcBef>
                <a:spcPts val="850"/>
              </a:spcBef>
              <a:buClr>
                <a:srgbClr val="000000"/>
              </a:buClr>
              <a:buSzPct val="45000"/>
              <a:buFont typeface="Wingdings" charset="2"/>
              <a:buChar char=""/>
              <a:tabLst>
                <a:tab algn="l" pos="0"/>
              </a:tabLst>
            </a:pPr>
            <a:r>
              <a:rPr b="1" lang="nl-NL" sz="3200" spc="-1" strike="noStrike">
                <a:solidFill>
                  <a:srgbClr val="125c8d"/>
                </a:solidFill>
                <a:latin typeface="Arial"/>
              </a:rPr>
              <a:t>proactieve communicatie naar en met belanghebbenden.</a:t>
            </a:r>
            <a:endParaRPr b="0" lang="en-GB" sz="3200" spc="-1" strike="noStrike">
              <a:solidFill>
                <a:srgbClr val="000000"/>
              </a:solidFill>
              <a:latin typeface="Arial"/>
            </a:endParaRPr>
          </a:p>
          <a:p>
            <a:pPr lvl="2" marL="1296000" indent="-288000">
              <a:lnSpc>
                <a:spcPct val="100000"/>
              </a:lnSpc>
              <a:spcBef>
                <a:spcPts val="850"/>
              </a:spcBef>
              <a:buClr>
                <a:srgbClr val="000000"/>
              </a:buClr>
              <a:buSzPct val="45000"/>
              <a:buFont typeface="Wingdings" charset="2"/>
              <a:buChar char=""/>
              <a:tabLst>
                <a:tab algn="l" pos="0"/>
              </a:tabLst>
            </a:pPr>
            <a:r>
              <a:rPr b="1" lang="nl-NL" sz="3200" spc="-1" strike="noStrike">
                <a:solidFill>
                  <a:srgbClr val="125c8d"/>
                </a:solidFill>
                <a:latin typeface="Arial"/>
              </a:rPr>
              <a:t>een constructieve en op kennis gebaseerde inbreng ten opzichte van beleidskwesties in gemeente, provincie en rijk.</a:t>
            </a:r>
            <a:endParaRPr b="0" lang="en-GB" sz="3200" spc="-1" strike="noStrike">
              <a:solidFill>
                <a:srgbClr val="000000"/>
              </a:solidFill>
              <a:latin typeface="Arial"/>
            </a:endParaRPr>
          </a:p>
          <a:p>
            <a:pPr marL="1296000" indent="0">
              <a:lnSpc>
                <a:spcPct val="100000"/>
              </a:lnSpc>
              <a:spcBef>
                <a:spcPts val="850"/>
              </a:spcBef>
              <a:buNone/>
              <a:tabLst>
                <a:tab algn="l" pos="0"/>
              </a:tabLst>
            </a:pPr>
            <a:endParaRPr b="0" lang="en-GB" sz="24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tabLst>
                <a:tab algn="l" pos="0"/>
              </a:tabLst>
            </a:pPr>
            <a:r>
              <a:rPr b="1" lang="nl-NL" sz="4000" spc="-1" strike="noStrike">
                <a:solidFill>
                  <a:srgbClr val="3465a4"/>
                </a:solidFill>
                <a:latin typeface="Arial"/>
              </a:rPr>
              <a:t>effectieve en informerende aanpak</a:t>
            </a:r>
            <a:endParaRPr b="0" lang="en-GB" sz="40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tabLst>
                <a:tab algn="l" pos="0"/>
              </a:tabLst>
            </a:pPr>
            <a:r>
              <a:rPr b="1" lang="nl-NL" sz="4000" spc="-1" strike="noStrike">
                <a:solidFill>
                  <a:srgbClr val="3465a4"/>
                </a:solidFill>
                <a:latin typeface="Arial"/>
              </a:rPr>
              <a:t>bewustwording bij lokale overheid, ondernemer en burger</a:t>
            </a:r>
            <a:endParaRPr b="0" lang="en-GB" sz="40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tabLst>
                <a:tab algn="l" pos="0"/>
              </a:tabLst>
            </a:pPr>
            <a:r>
              <a:rPr b="1" lang="nl-NL" sz="4000" spc="-1" strike="noStrike">
                <a:solidFill>
                  <a:srgbClr val="3465a4"/>
                </a:solidFill>
                <a:latin typeface="Arial"/>
              </a:rPr>
              <a:t>ontwikkeling van kwalitatieve low-cost meettechniek, data communicatie en opslag en data analyse</a:t>
            </a:r>
            <a:endParaRPr b="0" lang="en-GB" sz="4000" spc="-1" strike="noStrike">
              <a:solidFill>
                <a:srgbClr val="000000"/>
              </a:solidFill>
              <a:latin typeface="Arial"/>
            </a:endParaRPr>
          </a:p>
          <a:p>
            <a:pPr marL="1296000" indent="0">
              <a:lnSpc>
                <a:spcPct val="100000"/>
              </a:lnSpc>
              <a:spcBef>
                <a:spcPts val="850"/>
              </a:spcBef>
              <a:buNone/>
              <a:tabLst>
                <a:tab algn="l" pos="0"/>
              </a:tabLst>
            </a:pPr>
            <a:endParaRPr b="0" lang="en-GB"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82" dur="indefinite" restart="never" nodeType="tmRoot">
          <p:childTnLst>
            <p:seq>
              <p:cTn id="83" dur="indefinite" nodeType="mainSeq">
                <p:childTnLst>
                  <p:par>
                    <p:cTn id="84" fill="hold">
                      <p:stCondLst>
                        <p:cond delay="indefinite"/>
                      </p:stCondLst>
                      <p:childTnLst>
                        <p:par>
                          <p:cTn id="85" fill="hold">
                            <p:stCondLst>
                              <p:cond delay="0"/>
                            </p:stCondLst>
                            <p:childTnLst>
                              <p:par>
                                <p:cTn id="86" nodeType="clickEffect" fill="hold" presetClass="entr" presetID="1">
                                  <p:stCondLst>
                                    <p:cond delay="0"/>
                                  </p:stCondLst>
                                  <p:childTnLst>
                                    <p:set>
                                      <p:cBhvr>
                                        <p:cTn id="87" dur="1" fill="hold">
                                          <p:stCondLst>
                                            <p:cond delay="0"/>
                                          </p:stCondLst>
                                        </p:cTn>
                                        <p:tgtEl>
                                          <p:spTgt spid="49">
                                            <p:txEl>
                                              <p:pRg st="1" end="1"/>
                                            </p:txEl>
                                          </p:spTgt>
                                        </p:tgtEl>
                                        <p:attrNameLst>
                                          <p:attrName>style.visibility</p:attrName>
                                        </p:attrNameLst>
                                      </p:cBhvr>
                                      <p:to>
                                        <p:strVal val="visible"/>
                                      </p:to>
                                    </p:set>
                                  </p:childTnLst>
                                </p:cTn>
                              </p:par>
                              <p:par>
                                <p:cTn id="88" nodeType="withEffect" fill="hold" presetClass="entr" presetID="1">
                                  <p:stCondLst>
                                    <p:cond delay="0"/>
                                  </p:stCondLst>
                                  <p:childTnLst>
                                    <p:set>
                                      <p:cBhvr>
                                        <p:cTn id="89" dur="1" fill="hold">
                                          <p:stCondLst>
                                            <p:cond delay="0"/>
                                          </p:stCondLst>
                                        </p:cTn>
                                        <p:tgtEl>
                                          <p:spTgt spid="49">
                                            <p:txEl>
                                              <p:pRg st="2" end="2"/>
                                            </p:txEl>
                                          </p:spTgt>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nodeType="clickEffect" fill="hold" presetClass="entr" presetID="1">
                                  <p:stCondLst>
                                    <p:cond delay="0"/>
                                  </p:stCondLst>
                                  <p:childTnLst>
                                    <p:set>
                                      <p:cBhvr>
                                        <p:cTn id="93" dur="1" fill="hold">
                                          <p:stCondLst>
                                            <p:cond delay="0"/>
                                          </p:stCondLst>
                                        </p:cTn>
                                        <p:tgtEl>
                                          <p:spTgt spid="49">
                                            <p:txEl>
                                              <p:pRg st="3" end="3"/>
                                            </p:txEl>
                                          </p:spTgt>
                                        </p:tgtEl>
                                        <p:attrNameLst>
                                          <p:attrName>style.visibility</p:attrName>
                                        </p:attrNameLst>
                                      </p:cBhvr>
                                      <p:to>
                                        <p:strVal val="visible"/>
                                      </p:to>
                                    </p:set>
                                  </p:childTnLst>
                                </p:cTn>
                              </p:par>
                              <p:par>
                                <p:cTn id="94" nodeType="withEffect" fill="hold" presetClass="entr" presetID="1">
                                  <p:stCondLst>
                                    <p:cond delay="0"/>
                                  </p:stCondLst>
                                  <p:childTnLst>
                                    <p:set>
                                      <p:cBhvr>
                                        <p:cTn id="95" dur="1" fill="hold">
                                          <p:stCondLst>
                                            <p:cond delay="0"/>
                                          </p:stCondLst>
                                        </p:cTn>
                                        <p:tgtEl>
                                          <p:spTgt spid="49">
                                            <p:txEl>
                                              <p:pRg st="4" end="4"/>
                                            </p:txEl>
                                          </p:spTgt>
                                        </p:tgtEl>
                                        <p:attrNameLst>
                                          <p:attrName>style.visibility</p:attrName>
                                        </p:attrNameLst>
                                      </p:cBhvr>
                                      <p:to>
                                        <p:strVal val="visible"/>
                                      </p:to>
                                    </p:set>
                                  </p:childTnLst>
                                </p:cTn>
                              </p:par>
                              <p:par>
                                <p:cTn id="96" nodeType="withEffect" fill="hold" presetClass="entr" presetID="1">
                                  <p:stCondLst>
                                    <p:cond delay="0"/>
                                  </p:stCondLst>
                                  <p:childTnLst>
                                    <p:set>
                                      <p:cBhvr>
                                        <p:cTn id="97" dur="1" fill="hold">
                                          <p:stCondLst>
                                            <p:cond delay="0"/>
                                          </p:stCondLst>
                                        </p:cTn>
                                        <p:tgtEl>
                                          <p:spTgt spid="49">
                                            <p:txEl>
                                              <p:pRg st="5" end="5"/>
                                            </p:txEl>
                                          </p:spTgt>
                                        </p:tgtEl>
                                        <p:attrNameLst>
                                          <p:attrName>style.visibility</p:attrName>
                                        </p:attrNameLst>
                                      </p:cBhvr>
                                      <p:to>
                                        <p:strVal val="visible"/>
                                      </p:to>
                                    </p:set>
                                  </p:childTnLst>
                                </p:cTn>
                              </p:par>
                              <p:par>
                                <p:cTn id="98" nodeType="withEffect" fill="hold" presetClass="entr" presetID="1">
                                  <p:stCondLst>
                                    <p:cond delay="0"/>
                                  </p:stCondLst>
                                  <p:childTnLst>
                                    <p:set>
                                      <p:cBhvr>
                                        <p:cTn id="99" dur="1" fill="hold">
                                          <p:stCondLst>
                                            <p:cond delay="0"/>
                                          </p:stCondLst>
                                        </p:cTn>
                                        <p:tgtEl>
                                          <p:spTgt spid="49">
                                            <p:txEl>
                                              <p:pRg st="6" end="6"/>
                                            </p:txEl>
                                          </p:spTgt>
                                        </p:tgtEl>
                                        <p:attrNameLst>
                                          <p:attrName>style.visibility</p:attrName>
                                        </p:attrNameLst>
                                      </p:cBhvr>
                                      <p:to>
                                        <p:strVal val="visible"/>
                                      </p:to>
                                    </p:set>
                                  </p:childTnLst>
                                </p:cTn>
                              </p:par>
                              <p:animClr clrSpc="rgb">
                                <p:cBhvr>
                                  <p:cTn id="100" dur="1" fill="hold">
                                    <p:stCondLst>
                                      <p:cond delay="0"/>
                                    </p:stCondLst>
                                  </p:cTn>
                                  <p:tgtEl>
                                    <p:spTgt spid="49">
                                      <p:txEl>
                                        <p:pRg st="1" end="1"/>
                                      </p:txEl>
                                    </p:spTgt>
                                  </p:tgtEl>
                                  <p:attrNameLst>
                                    <p:attrName>ppt_c</p:attrName>
                                  </p:attrNameLst>
                                </p:cBhvr>
                                <p:to>
                                  <a:srgbClr val="999999"/>
                                </p:to>
                              </p:animClr>
                              <p:animClr clrSpc="rgb">
                                <p:cBhvr>
                                  <p:cTn id="101" dur="1" fill="hold">
                                    <p:stCondLst>
                                      <p:cond delay="0"/>
                                    </p:stCondLst>
                                  </p:cTn>
                                  <p:tgtEl>
                                    <p:spTgt spid="49">
                                      <p:txEl>
                                        <p:pRg st="2" end="2"/>
                                      </p:txEl>
                                    </p:spTgt>
                                  </p:tgtEl>
                                  <p:attrNameLst>
                                    <p:attrName>ppt_c</p:attrName>
                                  </p:attrNameLst>
                                </p:cBhvr>
                                <p:to>
                                  <a:srgbClr val="999999"/>
                                </p:to>
                              </p:animClr>
                            </p:childTnLst>
                          </p:cTn>
                        </p:par>
                      </p:childTnLst>
                    </p:cTn>
                  </p:par>
                  <p:par>
                    <p:cTn id="102" fill="hold">
                      <p:stCondLst>
                        <p:cond delay="indefinite"/>
                      </p:stCondLst>
                      <p:childTnLst>
                        <p:par>
                          <p:cTn id="103" fill="hold">
                            <p:stCondLst>
                              <p:cond delay="0"/>
                            </p:stCondLst>
                            <p:childTnLst>
                              <p:par>
                                <p:cTn id="104" nodeType="clickEffect" fill="hold" presetClass="entr" presetID="1">
                                  <p:stCondLst>
                                    <p:cond delay="0"/>
                                  </p:stCondLst>
                                  <p:childTnLst>
                                    <p:set>
                                      <p:cBhvr>
                                        <p:cTn id="105" dur="1" fill="hold">
                                          <p:stCondLst>
                                            <p:cond delay="0"/>
                                          </p:stCondLst>
                                        </p:cTn>
                                        <p:tgtEl>
                                          <p:spTgt spid="49">
                                            <p:txEl>
                                              <p:pRg st="8" end="8"/>
                                            </p:txEl>
                                          </p:spTgt>
                                        </p:tgtEl>
                                        <p:attrNameLst>
                                          <p:attrName>style.visibility</p:attrName>
                                        </p:attrNameLst>
                                      </p:cBhvr>
                                      <p:to>
                                        <p:strVal val="visible"/>
                                      </p:to>
                                    </p:set>
                                  </p:childTnLst>
                                </p:cTn>
                              </p:par>
                              <p:animClr clrSpc="rgb">
                                <p:cBhvr>
                                  <p:cTn id="106" dur="1" fill="hold">
                                    <p:stCondLst>
                                      <p:cond delay="0"/>
                                    </p:stCondLst>
                                  </p:cTn>
                                  <p:tgtEl>
                                    <p:spTgt spid="49">
                                      <p:txEl>
                                        <p:pRg st="3" end="3"/>
                                      </p:txEl>
                                    </p:spTgt>
                                  </p:tgtEl>
                                  <p:attrNameLst>
                                    <p:attrName>ppt_c</p:attrName>
                                  </p:attrNameLst>
                                </p:cBhvr>
                                <p:to>
                                  <a:srgbClr val="999999"/>
                                </p:to>
                              </p:animClr>
                              <p:animClr clrSpc="rgb">
                                <p:cBhvr>
                                  <p:cTn id="107" dur="1" fill="hold">
                                    <p:stCondLst>
                                      <p:cond delay="0"/>
                                    </p:stCondLst>
                                  </p:cTn>
                                  <p:tgtEl>
                                    <p:spTgt spid="49">
                                      <p:txEl>
                                        <p:pRg st="4" end="4"/>
                                      </p:txEl>
                                    </p:spTgt>
                                  </p:tgtEl>
                                  <p:attrNameLst>
                                    <p:attrName>ppt_c</p:attrName>
                                  </p:attrNameLst>
                                </p:cBhvr>
                                <p:to>
                                  <a:srgbClr val="999999"/>
                                </p:to>
                              </p:animClr>
                              <p:animClr clrSpc="rgb">
                                <p:cBhvr>
                                  <p:cTn id="108" dur="1" fill="hold">
                                    <p:stCondLst>
                                      <p:cond delay="0"/>
                                    </p:stCondLst>
                                  </p:cTn>
                                  <p:tgtEl>
                                    <p:spTgt spid="49">
                                      <p:txEl>
                                        <p:pRg st="5" end="5"/>
                                      </p:txEl>
                                    </p:spTgt>
                                  </p:tgtEl>
                                  <p:attrNameLst>
                                    <p:attrName>ppt_c</p:attrName>
                                  </p:attrNameLst>
                                </p:cBhvr>
                                <p:to>
                                  <a:srgbClr val="999999"/>
                                </p:to>
                              </p:animClr>
                              <p:animClr clrSpc="rgb">
                                <p:cBhvr>
                                  <p:cTn id="109" dur="1" fill="hold">
                                    <p:stCondLst>
                                      <p:cond delay="0"/>
                                    </p:stCondLst>
                                  </p:cTn>
                                  <p:tgtEl>
                                    <p:spTgt spid="49">
                                      <p:txEl>
                                        <p:pRg st="6" end="6"/>
                                      </p:txEl>
                                    </p:spTgt>
                                  </p:tgtEl>
                                  <p:attrNameLst>
                                    <p:attrName>ppt_c</p:attrName>
                                  </p:attrNameLst>
                                </p:cBhvr>
                                <p:to>
                                  <a:srgbClr val="999999"/>
                                </p:to>
                              </p:animClr>
                            </p:childTnLst>
                          </p:cTn>
                        </p:par>
                        <p:par>
                          <p:cTn id="110" fill="hold">
                            <p:stCondLst>
                              <p:cond delay="1"/>
                            </p:stCondLst>
                            <p:childTnLst>
                              <p:par>
                                <p:cTn id="111" nodeType="afterEffect" fill="hold" presetClass="entr" presetID="1">
                                  <p:stCondLst>
                                    <p:cond delay="2000"/>
                                  </p:stCondLst>
                                  <p:childTnLst>
                                    <p:set>
                                      <p:cBhvr>
                                        <p:cTn id="112" dur="1" fill="hold">
                                          <p:stCondLst>
                                            <p:cond delay="0"/>
                                          </p:stCondLst>
                                        </p:cTn>
                                        <p:tgtEl>
                                          <p:spTgt spid="49">
                                            <p:txEl>
                                              <p:pRg st="9" end="9"/>
                                            </p:txEl>
                                          </p:spTgt>
                                        </p:tgtEl>
                                        <p:attrNameLst>
                                          <p:attrName>style.visibility</p:attrName>
                                        </p:attrNameLst>
                                      </p:cBhvr>
                                      <p:to>
                                        <p:strVal val="visible"/>
                                      </p:to>
                                    </p:set>
                                  </p:childTnLst>
                                </p:cTn>
                              </p:par>
                            </p:childTnLst>
                          </p:cTn>
                        </p:par>
                        <p:par>
                          <p:cTn id="113" fill="hold">
                            <p:stCondLst>
                              <p:cond delay="2001"/>
                            </p:stCondLst>
                            <p:childTnLst>
                              <p:par>
                                <p:cTn id="114" nodeType="afterEffect" fill="hold" presetClass="entr" presetID="1">
                                  <p:stCondLst>
                                    <p:cond delay="1000"/>
                                  </p:stCondLst>
                                  <p:childTnLst>
                                    <p:set>
                                      <p:cBhvr>
                                        <p:cTn id="115" dur="1" fill="hold">
                                          <p:stCondLst>
                                            <p:cond delay="0"/>
                                          </p:stCondLst>
                                        </p:cTn>
                                        <p:tgtEl>
                                          <p:spTgt spid="49">
                                            <p:txEl>
                                              <p:pRg st="10" end="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503640" y="225360"/>
            <a:ext cx="9070200" cy="673920"/>
          </a:xfrm>
          <a:prstGeom prst="rect">
            <a:avLst/>
          </a:prstGeom>
          <a:noFill/>
          <a:ln w="0">
            <a:noFill/>
          </a:ln>
        </p:spPr>
        <p:txBody>
          <a:bodyPr lIns="0" rIns="0" tIns="0" bIns="0" anchor="ctr">
            <a:noAutofit/>
          </a:bodyPr>
          <a:p>
            <a:pPr indent="0">
              <a:lnSpc>
                <a:spcPct val="100000"/>
              </a:lnSpc>
              <a:buNone/>
              <a:tabLst>
                <a:tab algn="l" pos="0"/>
              </a:tabLst>
            </a:pPr>
            <a:r>
              <a:rPr b="1" lang="nl-NL" sz="4000" spc="-1" strike="noStrike">
                <a:solidFill>
                  <a:srgbClr val="11568c"/>
                </a:solidFill>
                <a:latin typeface="Arial"/>
              </a:rPr>
              <a:t>en ... de resultaten zijn best positief</a:t>
            </a:r>
            <a:endParaRPr b="0" lang="en-GB" sz="4000" spc="-1" strike="noStrike">
              <a:solidFill>
                <a:srgbClr val="000000"/>
              </a:solidFill>
              <a:latin typeface="Arial"/>
            </a:endParaRPr>
          </a:p>
        </p:txBody>
      </p:sp>
      <p:sp>
        <p:nvSpPr>
          <p:cNvPr id="51" name="PlaceHolder 2"/>
          <p:cNvSpPr>
            <a:spLocks noGrp="1"/>
          </p:cNvSpPr>
          <p:nvPr>
            <p:ph/>
          </p:nvPr>
        </p:nvSpPr>
        <p:spPr>
          <a:xfrm>
            <a:off x="503640" y="1620000"/>
            <a:ext cx="9070200" cy="3778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1" lang="nl-NL" sz="1600" spc="-1" strike="noStrike">
                <a:solidFill>
                  <a:srgbClr val="125c8d"/>
                </a:solidFill>
                <a:latin typeface="Arial"/>
              </a:rPr>
              <a:t>wetenschappelijk</a:t>
            </a:r>
            <a:r>
              <a:rPr b="1" lang="nl-NL" sz="1500" spc="-1" strike="noStrike">
                <a:solidFill>
                  <a:srgbClr val="125c8d"/>
                </a:solidFill>
                <a:latin typeface="Arial"/>
              </a:rPr>
              <a:t>:</a:t>
            </a:r>
            <a:endParaRPr b="0" lang="en-GB" sz="1500" spc="-1" strike="noStrike">
              <a:solidFill>
                <a:srgbClr val="000000"/>
              </a:solidFill>
              <a:latin typeface="Arial"/>
            </a:endParaRPr>
          </a:p>
          <a:p>
            <a:pPr lvl="1" marL="864000" indent="-324000">
              <a:lnSpc>
                <a:spcPct val="100000"/>
              </a:lnSpc>
              <a:spcBef>
                <a:spcPts val="567"/>
              </a:spcBef>
              <a:buClr>
                <a:srgbClr val="000000"/>
              </a:buClr>
              <a:buSzPct val="75000"/>
              <a:buFont typeface="Symbol" charset="2"/>
              <a:buChar char=""/>
            </a:pPr>
            <a:r>
              <a:rPr b="1" lang="nl-NL" sz="1500" spc="-1" strike="noStrike">
                <a:solidFill>
                  <a:srgbClr val="125c8d"/>
                </a:solidFill>
                <a:latin typeface="Arial"/>
              </a:rPr>
              <a:t>invloed weer en seizoen op luchtkwaliteit (wind, menglaag).</a:t>
            </a:r>
            <a:endParaRPr b="0" lang="en-GB" sz="1500" spc="-1" strike="noStrike">
              <a:solidFill>
                <a:srgbClr val="000000"/>
              </a:solidFill>
              <a:latin typeface="Arial"/>
            </a:endParaRPr>
          </a:p>
          <a:p>
            <a:pPr lvl="1" marL="864000" indent="-324000">
              <a:lnSpc>
                <a:spcPct val="100000"/>
              </a:lnSpc>
              <a:spcBef>
                <a:spcPts val="567"/>
              </a:spcBef>
              <a:buClr>
                <a:srgbClr val="000000"/>
              </a:buClr>
              <a:buSzPct val="75000"/>
              <a:buFont typeface="Symbol" charset="2"/>
              <a:buChar char=""/>
            </a:pPr>
            <a:r>
              <a:rPr b="1" lang="nl-NL" sz="1500" spc="-1" strike="noStrike">
                <a:solidFill>
                  <a:srgbClr val="125c8d"/>
                </a:solidFill>
                <a:latin typeface="Arial"/>
              </a:rPr>
              <a:t>vraagtekens: kalibratie, stabiliteit van metingen, afhankelijkheid van het weer.</a:t>
            </a:r>
            <a:endParaRPr b="0" lang="en-GB" sz="1500" spc="-1" strike="noStrike">
              <a:solidFill>
                <a:srgbClr val="000000"/>
              </a:solidFill>
              <a:latin typeface="Arial"/>
            </a:endParaRPr>
          </a:p>
          <a:p>
            <a:pPr lvl="1" marL="864000" indent="-324000">
              <a:lnSpc>
                <a:spcPct val="100000"/>
              </a:lnSpc>
              <a:spcBef>
                <a:spcPts val="567"/>
              </a:spcBef>
              <a:buClr>
                <a:srgbClr val="000000"/>
              </a:buClr>
              <a:buSzPct val="75000"/>
              <a:buFont typeface="Symbol" charset="2"/>
              <a:buChar char=""/>
            </a:pPr>
            <a:r>
              <a:rPr b="1" lang="nl-NL" sz="1500" spc="-1" strike="noStrike">
                <a:solidFill>
                  <a:srgbClr val="125c8d"/>
                </a:solidFill>
                <a:latin typeface="Arial"/>
              </a:rPr>
              <a:t>analyse software.</a:t>
            </a:r>
            <a:endParaRPr b="0" lang="en-GB" sz="1500" spc="-1" strike="noStrike">
              <a:solidFill>
                <a:srgbClr val="000000"/>
              </a:solidFill>
              <a:latin typeface="Arial"/>
            </a:endParaRPr>
          </a:p>
          <a:p>
            <a:pPr lvl="1" marL="864000" indent="-324000">
              <a:lnSpc>
                <a:spcPct val="100000"/>
              </a:lnSpc>
              <a:spcBef>
                <a:spcPts val="567"/>
              </a:spcBef>
              <a:buClr>
                <a:srgbClr val="000000"/>
              </a:buClr>
              <a:buSzPct val="75000"/>
              <a:buFont typeface="Symbol" charset="2"/>
              <a:buChar char=""/>
            </a:pPr>
            <a:r>
              <a:rPr b="1" lang="nl-NL" sz="1500" spc="-1" strike="noStrike">
                <a:solidFill>
                  <a:srgbClr val="125c8d"/>
                </a:solidFill>
                <a:latin typeface="Arial"/>
              </a:rPr>
              <a:t>ontwikkeling low-cost meettechniek, data management en data analyse.</a:t>
            </a:r>
            <a:endParaRPr b="0" lang="en-GB" sz="1500" spc="-1" strike="noStrike">
              <a:solidFill>
                <a:srgbClr val="000000"/>
              </a:solidFill>
              <a:latin typeface="Arial"/>
            </a:endParaRPr>
          </a:p>
          <a:p>
            <a:pPr marL="864000" indent="0">
              <a:lnSpc>
                <a:spcPct val="100000"/>
              </a:lnSpc>
              <a:spcBef>
                <a:spcPts val="567"/>
              </a:spcBef>
              <a:buNone/>
              <a:tabLst>
                <a:tab algn="l" pos="0"/>
              </a:tabLst>
            </a:pPr>
            <a:endParaRPr b="0" lang="en-GB" sz="13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nl-NL" sz="1600" spc="-1" strike="noStrike">
                <a:solidFill>
                  <a:srgbClr val="125c8d"/>
                </a:solidFill>
                <a:latin typeface="Arial"/>
              </a:rPr>
              <a:t>politiek:</a:t>
            </a:r>
            <a:endParaRPr b="0" lang="en-GB" sz="16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tabLst>
                <a:tab algn="l" pos="0"/>
              </a:tabLst>
            </a:pPr>
            <a:r>
              <a:rPr b="1" lang="nl-NL" sz="1500" spc="-1" strike="noStrike">
                <a:solidFill>
                  <a:srgbClr val="125c8d"/>
                </a:solidFill>
                <a:latin typeface="Arial"/>
              </a:rPr>
              <a:t>bewustwording</a:t>
            </a:r>
            <a:endParaRPr b="0" lang="en-GB" sz="1500" spc="-1" strike="noStrike">
              <a:solidFill>
                <a:srgbClr val="000000"/>
              </a:solidFill>
              <a:latin typeface="Arial"/>
            </a:endParaRPr>
          </a:p>
          <a:p>
            <a:pPr lvl="2" marL="1296000" indent="-288000">
              <a:lnSpc>
                <a:spcPct val="100000"/>
              </a:lnSpc>
              <a:spcBef>
                <a:spcPts val="850"/>
              </a:spcBef>
              <a:buClr>
                <a:srgbClr val="000000"/>
              </a:buClr>
              <a:buSzPct val="45000"/>
              <a:buFont typeface="Wingdings" charset="2"/>
              <a:buChar char=""/>
              <a:tabLst>
                <a:tab algn="l" pos="0"/>
              </a:tabLst>
            </a:pPr>
            <a:r>
              <a:rPr b="1" lang="nl-NL" sz="1500" spc="-1" strike="noStrike">
                <a:solidFill>
                  <a:srgbClr val="125c8d"/>
                </a:solidFill>
                <a:latin typeface="Arial"/>
              </a:rPr>
              <a:t>via inspreken Raad (fracties hebben het te druk).</a:t>
            </a:r>
            <a:endParaRPr b="0" lang="en-GB" sz="1500" spc="-1" strike="noStrike">
              <a:solidFill>
                <a:srgbClr val="000000"/>
              </a:solidFill>
              <a:latin typeface="Arial"/>
            </a:endParaRPr>
          </a:p>
          <a:p>
            <a:pPr lvl="2" marL="1296000" indent="-288000">
              <a:lnSpc>
                <a:spcPct val="100000"/>
              </a:lnSpc>
              <a:spcBef>
                <a:spcPts val="850"/>
              </a:spcBef>
              <a:buClr>
                <a:srgbClr val="000000"/>
              </a:buClr>
              <a:buSzPct val="45000"/>
              <a:buFont typeface="Wingdings" charset="2"/>
              <a:buChar char=""/>
              <a:tabLst>
                <a:tab algn="l" pos="0"/>
              </a:tabLst>
            </a:pPr>
            <a:r>
              <a:rPr b="1" lang="nl-NL" sz="1500" spc="-1" strike="noStrike">
                <a:solidFill>
                  <a:srgbClr val="125c8d"/>
                </a:solidFill>
                <a:latin typeface="Arial"/>
              </a:rPr>
              <a:t>lokale nieuwsvoorzieningen</a:t>
            </a:r>
            <a:endParaRPr b="0" lang="en-GB" sz="1500" spc="-1" strike="noStrike">
              <a:solidFill>
                <a:srgbClr val="000000"/>
              </a:solidFill>
              <a:latin typeface="Arial"/>
            </a:endParaRPr>
          </a:p>
          <a:p>
            <a:pPr marL="864000" indent="0">
              <a:lnSpc>
                <a:spcPct val="100000"/>
              </a:lnSpc>
              <a:spcBef>
                <a:spcPts val="1134"/>
              </a:spcBef>
              <a:buNone/>
              <a:tabLst>
                <a:tab algn="l" pos="0"/>
              </a:tabLst>
            </a:pPr>
            <a:endParaRPr b="0" lang="en-GB" sz="11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16" dur="indefinite" restart="never" nodeType="tmRoot">
          <p:childTnLst>
            <p:seq>
              <p:cTn id="117" dur="indefinite" nodeType="mainSeq">
                <p:childTnLst>
                  <p:par>
                    <p:cTn id="118" fill="hold">
                      <p:stCondLst>
                        <p:cond delay="indefinite"/>
                      </p:stCondLst>
                      <p:childTnLst>
                        <p:par>
                          <p:cTn id="119" fill="hold">
                            <p:stCondLst>
                              <p:cond delay="0"/>
                            </p:stCondLst>
                            <p:childTnLst>
                              <p:par>
                                <p:cTn id="120" nodeType="clickEffect" fill="hold" presetClass="entr" presetID="1">
                                  <p:stCondLst>
                                    <p:cond delay="0"/>
                                  </p:stCondLst>
                                  <p:childTnLst>
                                    <p:set>
                                      <p:cBhvr>
                                        <p:cTn id="121" dur="1" fill="hold">
                                          <p:stCondLst>
                                            <p:cond delay="0"/>
                                          </p:stCondLst>
                                        </p:cTn>
                                        <p:tgtEl>
                                          <p:spTgt spid="51">
                                            <p:txEl>
                                              <p:pRg st="0" end="0"/>
                                            </p:txEl>
                                          </p:spTgt>
                                        </p:tgtEl>
                                        <p:attrNameLst>
                                          <p:attrName>style.visibility</p:attrName>
                                        </p:attrNameLst>
                                      </p:cBhvr>
                                      <p:to>
                                        <p:strVal val="visible"/>
                                      </p:to>
                                    </p:set>
                                  </p:childTnLst>
                                </p:cTn>
                              </p:par>
                            </p:childTnLst>
                          </p:cTn>
                        </p:par>
                        <p:par>
                          <p:cTn id="122" fill="hold">
                            <p:stCondLst>
                              <p:cond delay="1"/>
                            </p:stCondLst>
                            <p:childTnLst>
                              <p:par>
                                <p:cTn id="123" nodeType="afterEffect" fill="hold" presetClass="entr" presetID="1">
                                  <p:stCondLst>
                                    <p:cond delay="1000"/>
                                  </p:stCondLst>
                                  <p:childTnLst>
                                    <p:set>
                                      <p:cBhvr>
                                        <p:cTn id="124" dur="1" fill="hold">
                                          <p:stCondLst>
                                            <p:cond delay="0"/>
                                          </p:stCondLst>
                                        </p:cTn>
                                        <p:tgtEl>
                                          <p:spTgt spid="51">
                                            <p:txEl>
                                              <p:pRg st="1" end="1"/>
                                            </p:txEl>
                                          </p:spTgt>
                                        </p:tgtEl>
                                        <p:attrNameLst>
                                          <p:attrName>style.visibility</p:attrName>
                                        </p:attrNameLst>
                                      </p:cBhvr>
                                      <p:to>
                                        <p:strVal val="visible"/>
                                      </p:to>
                                    </p:set>
                                  </p:childTnLst>
                                </p:cTn>
                              </p:par>
                            </p:childTnLst>
                          </p:cTn>
                        </p:par>
                        <p:par>
                          <p:cTn id="125" fill="hold">
                            <p:stCondLst>
                              <p:cond delay="1000"/>
                            </p:stCondLst>
                            <p:childTnLst>
                              <p:par>
                                <p:cTn id="126" nodeType="afterEffect" fill="hold" presetClass="entr" presetID="1">
                                  <p:stCondLst>
                                    <p:cond delay="0"/>
                                  </p:stCondLst>
                                  <p:childTnLst>
                                    <p:set>
                                      <p:cBhvr>
                                        <p:cTn id="127" dur="1" fill="hold">
                                          <p:stCondLst>
                                            <p:cond delay="0"/>
                                          </p:stCondLst>
                                        </p:cTn>
                                        <p:tgtEl>
                                          <p:spTgt spid="51">
                                            <p:txEl>
                                              <p:pRg st="2" end="2"/>
                                            </p:txEl>
                                          </p:spTgt>
                                        </p:tgtEl>
                                        <p:attrNameLst>
                                          <p:attrName>style.visibility</p:attrName>
                                        </p:attrNameLst>
                                      </p:cBhvr>
                                      <p:to>
                                        <p:strVal val="visible"/>
                                      </p:to>
                                    </p:set>
                                  </p:childTnLst>
                                </p:cTn>
                              </p:par>
                            </p:childTnLst>
                          </p:cTn>
                        </p:par>
                        <p:par>
                          <p:cTn id="128" fill="hold">
                            <p:stCondLst>
                              <p:cond delay="1002"/>
                            </p:stCondLst>
                            <p:childTnLst>
                              <p:par>
                                <p:cTn id="129" nodeType="afterEffect" fill="hold" presetClass="entr" presetID="1">
                                  <p:stCondLst>
                                    <p:cond delay="0"/>
                                  </p:stCondLst>
                                  <p:childTnLst>
                                    <p:set>
                                      <p:cBhvr>
                                        <p:cTn id="130" dur="1" fill="hold">
                                          <p:stCondLst>
                                            <p:cond delay="0"/>
                                          </p:stCondLst>
                                        </p:cTn>
                                        <p:tgtEl>
                                          <p:spTgt spid="51">
                                            <p:txEl>
                                              <p:pRg st="3" end="3"/>
                                            </p:txEl>
                                          </p:spTgt>
                                        </p:tgtEl>
                                        <p:attrNameLst>
                                          <p:attrName>style.visibility</p:attrName>
                                        </p:attrNameLst>
                                      </p:cBhvr>
                                      <p:to>
                                        <p:strVal val="visible"/>
                                      </p:to>
                                    </p:set>
                                  </p:childTnLst>
                                </p:cTn>
                              </p:par>
                            </p:childTnLst>
                          </p:cTn>
                        </p:par>
                        <p:par>
                          <p:cTn id="131" fill="hold">
                            <p:stCondLst>
                              <p:cond delay="1002"/>
                            </p:stCondLst>
                            <p:childTnLst>
                              <p:par>
                                <p:cTn id="132" nodeType="afterEffect" fill="hold" presetClass="entr" presetID="1">
                                  <p:stCondLst>
                                    <p:cond delay="0"/>
                                  </p:stCondLst>
                                  <p:childTnLst>
                                    <p:set>
                                      <p:cBhvr>
                                        <p:cTn id="133" dur="1" fill="hold">
                                          <p:stCondLst>
                                            <p:cond delay="0"/>
                                          </p:stCondLst>
                                        </p:cTn>
                                        <p:tgtEl>
                                          <p:spTgt spid="51">
                                            <p:txEl>
                                              <p:pRg st="4" end="4"/>
                                            </p:txEl>
                                          </p:spTgt>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nodeType="clickEffect" fill="hold" presetClass="entr" presetID="1">
                                  <p:stCondLst>
                                    <p:cond delay="0"/>
                                  </p:stCondLst>
                                  <p:childTnLst>
                                    <p:set>
                                      <p:cBhvr>
                                        <p:cTn id="137" dur="1" fill="hold">
                                          <p:stCondLst>
                                            <p:cond delay="0"/>
                                          </p:stCondLst>
                                        </p:cTn>
                                        <p:tgtEl>
                                          <p:spTgt spid="51">
                                            <p:txEl>
                                              <p:pRg st="6" end="6"/>
                                            </p:txEl>
                                          </p:spTgt>
                                        </p:tgtEl>
                                        <p:attrNameLst>
                                          <p:attrName>style.visibility</p:attrName>
                                        </p:attrNameLst>
                                      </p:cBhvr>
                                      <p:to>
                                        <p:strVal val="visible"/>
                                      </p:to>
                                    </p:set>
                                  </p:childTnLst>
                                </p:cTn>
                              </p:par>
                            </p:childTnLst>
                          </p:cTn>
                        </p:par>
                        <p:par>
                          <p:cTn id="138" fill="hold">
                            <p:stCondLst>
                              <p:cond delay="1"/>
                            </p:stCondLst>
                            <p:childTnLst>
                              <p:par>
                                <p:cTn id="139" nodeType="afterEffect" fill="hold" presetClass="entr" presetID="1">
                                  <p:stCondLst>
                                    <p:cond delay="1000"/>
                                  </p:stCondLst>
                                  <p:childTnLst>
                                    <p:set>
                                      <p:cBhvr>
                                        <p:cTn id="140" dur="1" fill="hold">
                                          <p:stCondLst>
                                            <p:cond delay="0"/>
                                          </p:stCondLst>
                                        </p:cTn>
                                        <p:tgtEl>
                                          <p:spTgt spid="51">
                                            <p:txEl>
                                              <p:pRg st="7" end="7"/>
                                            </p:txEl>
                                          </p:spTgt>
                                        </p:tgtEl>
                                        <p:attrNameLst>
                                          <p:attrName>style.visibility</p:attrName>
                                        </p:attrNameLst>
                                      </p:cBhvr>
                                      <p:to>
                                        <p:strVal val="visible"/>
                                      </p:to>
                                    </p:set>
                                  </p:childTnLst>
                                </p:cTn>
                              </p:par>
                            </p:childTnLst>
                          </p:cTn>
                        </p:par>
                        <p:par>
                          <p:cTn id="141" fill="hold">
                            <p:stCondLst>
                              <p:cond delay="1000"/>
                            </p:stCondLst>
                            <p:childTnLst>
                              <p:par>
                                <p:cTn id="142" nodeType="afterEffect" fill="hold" presetClass="entr" presetID="1">
                                  <p:stCondLst>
                                    <p:cond delay="0"/>
                                  </p:stCondLst>
                                  <p:childTnLst>
                                    <p:set>
                                      <p:cBhvr>
                                        <p:cTn id="143" dur="1" fill="hold">
                                          <p:stCondLst>
                                            <p:cond delay="0"/>
                                          </p:stCondLst>
                                        </p:cTn>
                                        <p:tgtEl>
                                          <p:spTgt spid="51">
                                            <p:txEl>
                                              <p:pRg st="8" end="8"/>
                                            </p:txEl>
                                          </p:spTgt>
                                        </p:tgtEl>
                                        <p:attrNameLst>
                                          <p:attrName>style.visibility</p:attrName>
                                        </p:attrNameLst>
                                      </p:cBhvr>
                                      <p:to>
                                        <p:strVal val="visible"/>
                                      </p:to>
                                    </p:set>
                                  </p:childTnLst>
                                </p:cTn>
                              </p:par>
                            </p:childTnLst>
                          </p:cTn>
                        </p:par>
                        <p:par>
                          <p:cTn id="144" fill="hold">
                            <p:stCondLst>
                              <p:cond delay="1002"/>
                            </p:stCondLst>
                            <p:childTnLst>
                              <p:par>
                                <p:cTn id="145" nodeType="afterEffect" fill="hold" presetClass="entr" presetID="1">
                                  <p:stCondLst>
                                    <p:cond delay="0"/>
                                  </p:stCondLst>
                                  <p:childTnLst>
                                    <p:set>
                                      <p:cBhvr>
                                        <p:cTn id="146" dur="1" fill="hold">
                                          <p:stCondLst>
                                            <p:cond delay="0"/>
                                          </p:stCondLst>
                                        </p:cTn>
                                        <p:tgtEl>
                                          <p:spTgt spid="51">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lnSpc>
                <a:spcPct val="100000"/>
              </a:lnSpc>
              <a:buNone/>
              <a:tabLst>
                <a:tab algn="l" pos="0"/>
              </a:tabLst>
            </a:pPr>
            <a:r>
              <a:rPr b="1" lang="nl-NL" sz="4400" spc="-1" strike="noStrike">
                <a:solidFill>
                  <a:srgbClr val="3465a4"/>
                </a:solidFill>
                <a:latin typeface="Arial"/>
              </a:rPr>
              <a:t>waarom?       de SLA Brandbrief</a:t>
            </a:r>
            <a:endParaRPr b="0" lang="en-GB" sz="4400" spc="-1" strike="noStrike">
              <a:solidFill>
                <a:srgbClr val="000000"/>
              </a:solidFill>
              <a:latin typeface="Arial"/>
            </a:endParaRPr>
          </a:p>
        </p:txBody>
      </p:sp>
      <p:sp>
        <p:nvSpPr>
          <p:cNvPr id="53" name="PlaceHolder 2"/>
          <p:cNvSpPr>
            <a:spLocks noGrp="1"/>
          </p:cNvSpPr>
          <p:nvPr>
            <p:ph/>
          </p:nvPr>
        </p:nvSpPr>
        <p:spPr>
          <a:xfrm>
            <a:off x="648360" y="1620000"/>
            <a:ext cx="9071280" cy="3599640"/>
          </a:xfrm>
          <a:prstGeom prst="rect">
            <a:avLst/>
          </a:prstGeom>
          <a:noFill/>
          <a:ln w="0">
            <a:noFill/>
          </a:ln>
        </p:spPr>
        <p:txBody>
          <a:bodyPr lIns="0" rIns="0" tIns="0" bIns="0" anchor="t">
            <a:normAutofit fontScale="77777"/>
          </a:bodyPr>
          <a:p>
            <a:pPr marL="432000" indent="-324000">
              <a:lnSpc>
                <a:spcPct val="100000"/>
              </a:lnSpc>
              <a:spcBef>
                <a:spcPts val="1417"/>
              </a:spcBef>
              <a:buClr>
                <a:srgbClr val="3465a4"/>
              </a:buClr>
              <a:buSzPct val="45000"/>
              <a:buFont typeface="Wingdings" charset="2"/>
              <a:buChar char=""/>
            </a:pPr>
            <a:r>
              <a:rPr b="1" lang="nl-NL" sz="2800" spc="-1" strike="noStrike">
                <a:solidFill>
                  <a:srgbClr val="125c8d"/>
                </a:solidFill>
                <a:latin typeface="Arial"/>
              </a:rPr>
              <a:t>kloof tussen potentie en impact</a:t>
            </a:r>
            <a:endParaRPr b="0" lang="en-GB" sz="28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600" spc="-1" strike="noStrike">
                <a:solidFill>
                  <a:srgbClr val="125c8d"/>
                </a:solidFill>
                <a:latin typeface="Arial"/>
              </a:rPr>
              <a:t>technisch gedreven: veel data, veel analyses</a:t>
            </a:r>
            <a:endParaRPr b="0" lang="en-GB" sz="26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600" spc="-1" strike="noStrike">
                <a:solidFill>
                  <a:srgbClr val="125c8d"/>
                </a:solidFill>
                <a:latin typeface="Arial"/>
              </a:rPr>
              <a:t>beperkte benutting in beleid</a:t>
            </a:r>
            <a:endParaRPr b="0" lang="en-GB" sz="26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1" lang="nl-NL" sz="2800" spc="-1" strike="noStrike">
                <a:solidFill>
                  <a:srgbClr val="3465a4"/>
                </a:solidFill>
                <a:latin typeface="Arial"/>
              </a:rPr>
              <a:t>mensen haken af</a:t>
            </a:r>
            <a:endParaRPr b="0" lang="en-GB" sz="28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600" spc="-1" strike="noStrike">
                <a:solidFill>
                  <a:srgbClr val="3465a4"/>
                </a:solidFill>
                <a:latin typeface="Arial"/>
              </a:rPr>
              <a:t>geen zichtbare impact</a:t>
            </a:r>
            <a:endParaRPr b="0" lang="en-GB" sz="26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600" spc="-1" strike="noStrike">
                <a:solidFill>
                  <a:srgbClr val="3465a4"/>
                </a:solidFill>
                <a:latin typeface="Arial"/>
              </a:rPr>
              <a:t>onduidelijke samenwerking met (lokale) overheid</a:t>
            </a:r>
            <a:endParaRPr b="0" lang="en-GB" sz="26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600" spc="-1" strike="noStrike">
                <a:solidFill>
                  <a:srgbClr val="3465a4"/>
                </a:solidFill>
                <a:latin typeface="Arial"/>
              </a:rPr>
              <a:t>gebrek aan structuur en continuïteit</a:t>
            </a:r>
            <a:endParaRPr b="0" lang="en-GB" sz="26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600" spc="-1" strike="noStrike">
                <a:solidFill>
                  <a:srgbClr val="3465a4"/>
                </a:solidFill>
                <a:latin typeface="Arial"/>
              </a:rPr>
              <a:t>gebrekkige dialoog en waardering</a:t>
            </a:r>
            <a:endParaRPr b="0" lang="en-GB" sz="2600" spc="-1" strike="noStrike">
              <a:solidFill>
                <a:srgbClr val="000000"/>
              </a:solidFill>
              <a:latin typeface="Arial"/>
            </a:endParaRPr>
          </a:p>
        </p:txBody>
      </p:sp>
      <p:pic>
        <p:nvPicPr>
          <p:cNvPr id="54" name="" descr=""/>
          <p:cNvPicPr/>
          <p:nvPr/>
        </p:nvPicPr>
        <p:blipFill>
          <a:blip r:embed="rId1"/>
          <a:stretch/>
        </p:blipFill>
        <p:spPr>
          <a:xfrm rot="324600">
            <a:off x="8156160" y="1194480"/>
            <a:ext cx="1156320" cy="1814400"/>
          </a:xfrm>
          <a:prstGeom prst="rect">
            <a:avLst/>
          </a:prstGeom>
          <a:ln w="0">
            <a:noFill/>
          </a:ln>
        </p:spPr>
      </p:pic>
    </p:spTree>
  </p:cSld>
  <mc:AlternateContent>
    <mc:Choice Requires="p14">
      <p:transition spd="slow" p14:dur="3000"/>
    </mc:Choice>
    <mc:Fallback>
      <p:transition spd="slow"/>
    </mc:Fallback>
  </mc:AlternateContent>
  <p:timing>
    <p:tnLst>
      <p:par>
        <p:cTn id="147" dur="indefinite" restart="never" nodeType="tmRoot">
          <p:childTnLst>
            <p:seq>
              <p:cTn id="148" dur="indefinite" nodeType="mainSeq">
                <p:childTnLst>
                  <p:par>
                    <p:cTn id="149" fill="hold">
                      <p:stCondLst>
                        <p:cond delay="indefinite"/>
                      </p:stCondLst>
                      <p:childTnLst>
                        <p:par>
                          <p:cTn id="150" fill="hold">
                            <p:stCondLst>
                              <p:cond delay="0"/>
                            </p:stCondLst>
                            <p:childTnLst>
                              <p:par>
                                <p:cTn id="151" nodeType="clickEffect" fill="hold" presetClass="entr" presetID="1">
                                  <p:stCondLst>
                                    <p:cond delay="0"/>
                                  </p:stCondLst>
                                  <p:childTnLst>
                                    <p:set>
                                      <p:cBhvr>
                                        <p:cTn id="152" dur="1" fill="hold">
                                          <p:stCondLst>
                                            <p:cond delay="0"/>
                                          </p:stCondLst>
                                        </p:cTn>
                                        <p:tgtEl>
                                          <p:spTgt spid="53">
                                            <p:txEl>
                                              <p:pRg st="0" end="0"/>
                                            </p:txEl>
                                          </p:spTgt>
                                        </p:tgtEl>
                                        <p:attrNameLst>
                                          <p:attrName>style.visibility</p:attrName>
                                        </p:attrNameLst>
                                      </p:cBhvr>
                                      <p:to>
                                        <p:strVal val="visible"/>
                                      </p:to>
                                    </p:set>
                                  </p:childTnLst>
                                </p:cTn>
                              </p:par>
                            </p:childTnLst>
                          </p:cTn>
                        </p:par>
                        <p:par>
                          <p:cTn id="153" fill="hold">
                            <p:stCondLst>
                              <p:cond delay="1"/>
                            </p:stCondLst>
                            <p:childTnLst>
                              <p:par>
                                <p:cTn id="154" nodeType="afterEffect" fill="hold" presetClass="entr" presetID="1">
                                  <p:stCondLst>
                                    <p:cond delay="1000"/>
                                  </p:stCondLst>
                                  <p:childTnLst>
                                    <p:set>
                                      <p:cBhvr>
                                        <p:cTn id="155" dur="1" fill="hold">
                                          <p:stCondLst>
                                            <p:cond delay="0"/>
                                          </p:stCondLst>
                                        </p:cTn>
                                        <p:tgtEl>
                                          <p:spTgt spid="53">
                                            <p:txEl>
                                              <p:pRg st="1" end="1"/>
                                            </p:txEl>
                                          </p:spTgt>
                                        </p:tgtEl>
                                        <p:attrNameLst>
                                          <p:attrName>style.visibility</p:attrName>
                                        </p:attrNameLst>
                                      </p:cBhvr>
                                      <p:to>
                                        <p:strVal val="visible"/>
                                      </p:to>
                                    </p:set>
                                  </p:childTnLst>
                                </p:cTn>
                              </p:par>
                              <p:par>
                                <p:cTn id="156" nodeType="withEffect" fill="hold" presetClass="entr" presetID="1">
                                  <p:stCondLst>
                                    <p:cond delay="0"/>
                                  </p:stCondLst>
                                  <p:childTnLst>
                                    <p:set>
                                      <p:cBhvr>
                                        <p:cTn id="157" dur="1" fill="hold">
                                          <p:stCondLst>
                                            <p:cond delay="0"/>
                                          </p:stCondLst>
                                        </p:cTn>
                                        <p:tgtEl>
                                          <p:spTgt spid="53">
                                            <p:txEl>
                                              <p:pRg st="2" end="2"/>
                                            </p:txEl>
                                          </p:spTgt>
                                        </p:tgtEl>
                                        <p:attrNameLst>
                                          <p:attrName>style.visibility</p:attrName>
                                        </p:attrNameLst>
                                      </p:cBhvr>
                                      <p:to>
                                        <p:strVal val="visible"/>
                                      </p:to>
                                    </p:set>
                                  </p:childTnLst>
                                </p:cTn>
                              </p:par>
                              <p:animClr clrSpc="rgb">
                                <p:cBhvr>
                                  <p:cTn id="158" dur="1" fill="hold">
                                    <p:stCondLst>
                                      <p:cond delay="1000"/>
                                    </p:stCondLst>
                                  </p:cTn>
                                  <p:tgtEl>
                                    <p:spTgt spid="53">
                                      <p:txEl>
                                        <p:pRg st="0" end="0"/>
                                      </p:txEl>
                                    </p:spTgt>
                                  </p:tgtEl>
                                  <p:attrNameLst>
                                    <p:attrName>ppt_c</p:attrName>
                                  </p:attrNameLst>
                                </p:cBhvr>
                                <p:to>
                                  <a:srgbClr val="999999"/>
                                </p:to>
                              </p:animClr>
                            </p:childTnLst>
                          </p:cTn>
                        </p:par>
                      </p:childTnLst>
                    </p:cTn>
                  </p:par>
                  <p:par>
                    <p:cTn id="159" fill="hold">
                      <p:stCondLst>
                        <p:cond delay="indefinite"/>
                      </p:stCondLst>
                      <p:childTnLst>
                        <p:par>
                          <p:cTn id="160" fill="hold">
                            <p:stCondLst>
                              <p:cond delay="0"/>
                            </p:stCondLst>
                            <p:childTnLst>
                              <p:par>
                                <p:cTn id="161" nodeType="clickEffect" fill="hold" presetClass="entr" presetID="1">
                                  <p:stCondLst>
                                    <p:cond delay="0"/>
                                  </p:stCondLst>
                                  <p:childTnLst>
                                    <p:set>
                                      <p:cBhvr>
                                        <p:cTn id="162" dur="1" fill="hold">
                                          <p:stCondLst>
                                            <p:cond delay="0"/>
                                          </p:stCondLst>
                                        </p:cTn>
                                        <p:tgtEl>
                                          <p:spTgt spid="53">
                                            <p:txEl>
                                              <p:pRg st="3" end="3"/>
                                            </p:txEl>
                                          </p:spTgt>
                                        </p:tgtEl>
                                        <p:attrNameLst>
                                          <p:attrName>style.visibility</p:attrName>
                                        </p:attrNameLst>
                                      </p:cBhvr>
                                      <p:to>
                                        <p:strVal val="visible"/>
                                      </p:to>
                                    </p:set>
                                  </p:childTnLst>
                                </p:cTn>
                              </p:par>
                              <p:animClr clrSpc="rgb">
                                <p:cBhvr>
                                  <p:cTn id="163" dur="1" fill="hold">
                                    <p:stCondLst>
                                      <p:cond delay="0"/>
                                    </p:stCondLst>
                                  </p:cTn>
                                  <p:tgtEl>
                                    <p:spTgt spid="53">
                                      <p:txEl>
                                        <p:pRg st="1" end="1"/>
                                      </p:txEl>
                                    </p:spTgt>
                                  </p:tgtEl>
                                  <p:attrNameLst>
                                    <p:attrName>ppt_c</p:attrName>
                                  </p:attrNameLst>
                                </p:cBhvr>
                                <p:to>
                                  <a:srgbClr val="999999"/>
                                </p:to>
                              </p:animClr>
                              <p:animClr clrSpc="rgb">
                                <p:cBhvr>
                                  <p:cTn id="164" dur="1" fill="hold">
                                    <p:stCondLst>
                                      <p:cond delay="0"/>
                                    </p:stCondLst>
                                  </p:cTn>
                                  <p:tgtEl>
                                    <p:spTgt spid="53">
                                      <p:txEl>
                                        <p:pRg st="2" end="2"/>
                                      </p:txEl>
                                    </p:spTgt>
                                  </p:tgtEl>
                                  <p:attrNameLst>
                                    <p:attrName>ppt_c</p:attrName>
                                  </p:attrNameLst>
                                </p:cBhvr>
                                <p:to>
                                  <a:srgbClr val="999999"/>
                                </p:to>
                              </p:animClr>
                            </p:childTnLst>
                          </p:cTn>
                        </p:par>
                        <p:par>
                          <p:cTn id="165" fill="hold">
                            <p:stCondLst>
                              <p:cond delay="1"/>
                            </p:stCondLst>
                            <p:childTnLst>
                              <p:par>
                                <p:cTn id="166" nodeType="afterEffect" fill="hold" presetClass="entr" presetID="1">
                                  <p:stCondLst>
                                    <p:cond delay="1000"/>
                                  </p:stCondLst>
                                  <p:childTnLst>
                                    <p:set>
                                      <p:cBhvr>
                                        <p:cTn id="167" dur="1" fill="hold">
                                          <p:stCondLst>
                                            <p:cond delay="0"/>
                                          </p:stCondLst>
                                        </p:cTn>
                                        <p:tgtEl>
                                          <p:spTgt spid="53">
                                            <p:txEl>
                                              <p:pRg st="4" end="4"/>
                                            </p:txEl>
                                          </p:spTgt>
                                        </p:tgtEl>
                                        <p:attrNameLst>
                                          <p:attrName>style.visibility</p:attrName>
                                        </p:attrNameLst>
                                      </p:cBhvr>
                                      <p:to>
                                        <p:strVal val="visible"/>
                                      </p:to>
                                    </p:set>
                                  </p:childTnLst>
                                </p:cTn>
                              </p:par>
                              <p:par>
                                <p:cTn id="168" nodeType="withEffect" fill="hold" presetClass="entr" presetID="1">
                                  <p:stCondLst>
                                    <p:cond delay="0"/>
                                  </p:stCondLst>
                                  <p:childTnLst>
                                    <p:set>
                                      <p:cBhvr>
                                        <p:cTn id="169" dur="1" fill="hold">
                                          <p:stCondLst>
                                            <p:cond delay="0"/>
                                          </p:stCondLst>
                                        </p:cTn>
                                        <p:tgtEl>
                                          <p:spTgt spid="53">
                                            <p:txEl>
                                              <p:pRg st="5" end="5"/>
                                            </p:txEl>
                                          </p:spTgt>
                                        </p:tgtEl>
                                        <p:attrNameLst>
                                          <p:attrName>style.visibility</p:attrName>
                                        </p:attrNameLst>
                                      </p:cBhvr>
                                      <p:to>
                                        <p:strVal val="visible"/>
                                      </p:to>
                                    </p:set>
                                  </p:childTnLst>
                                </p:cTn>
                              </p:par>
                              <p:par>
                                <p:cTn id="170" nodeType="withEffect" fill="hold" presetClass="entr" presetID="1">
                                  <p:stCondLst>
                                    <p:cond delay="0"/>
                                  </p:stCondLst>
                                  <p:childTnLst>
                                    <p:set>
                                      <p:cBhvr>
                                        <p:cTn id="171" dur="1" fill="hold">
                                          <p:stCondLst>
                                            <p:cond delay="0"/>
                                          </p:stCondLst>
                                        </p:cTn>
                                        <p:tgtEl>
                                          <p:spTgt spid="53">
                                            <p:txEl>
                                              <p:pRg st="6" end="6"/>
                                            </p:txEl>
                                          </p:spTgt>
                                        </p:tgtEl>
                                        <p:attrNameLst>
                                          <p:attrName>style.visibility</p:attrName>
                                        </p:attrNameLst>
                                      </p:cBhvr>
                                      <p:to>
                                        <p:strVal val="visible"/>
                                      </p:to>
                                    </p:set>
                                  </p:childTnLst>
                                </p:cTn>
                              </p:par>
                              <p:par>
                                <p:cTn id="172" nodeType="withEffect" fill="hold" presetClass="entr" presetID="1">
                                  <p:stCondLst>
                                    <p:cond delay="0"/>
                                  </p:stCondLst>
                                  <p:childTnLst>
                                    <p:set>
                                      <p:cBhvr>
                                        <p:cTn id="173" dur="1" fill="hold">
                                          <p:stCondLst>
                                            <p:cond delay="0"/>
                                          </p:stCondLst>
                                        </p:cTn>
                                        <p:tgtEl>
                                          <p:spTgt spid="53">
                                            <p:txEl>
                                              <p:pRg st="7" end="7"/>
                                            </p:txEl>
                                          </p:spTgt>
                                        </p:tgtEl>
                                        <p:attrNameLst>
                                          <p:attrName>style.visibility</p:attrName>
                                        </p:attrNameLst>
                                      </p:cBhvr>
                                      <p:to>
                                        <p:strVal val="visible"/>
                                      </p:to>
                                    </p:set>
                                  </p:childTnLst>
                                </p:cTn>
                              </p:par>
                            </p:childTnLst>
                          </p:cTn>
                        </p:par>
                        <p:par>
                          <p:cTn id="174" fill="hold">
                            <p:stCondLst>
                              <p:cond delay="1000"/>
                            </p:stCondLst>
                            <p:childTnLst>
                              <p:par>
                                <p:cTn id="175" nodeType="afterEffect" fill="hold" presetClass="entr" presetID="1">
                                  <p:stCondLst>
                                    <p:cond delay="4000"/>
                                  </p:stCondLst>
                                  <p:childTnLst>
                                    <p:set>
                                      <p:cBhvr>
                                        <p:cTn id="17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lnSpc>
                <a:spcPct val="100000"/>
              </a:lnSpc>
              <a:buNone/>
              <a:tabLst>
                <a:tab algn="l" pos="0"/>
              </a:tabLst>
            </a:pPr>
            <a:r>
              <a:rPr b="1" lang="nl-NL" sz="4400" spc="-1" strike="noStrike">
                <a:solidFill>
                  <a:srgbClr val="3465a4"/>
                </a:solidFill>
                <a:latin typeface="Arial"/>
              </a:rPr>
              <a:t>en toch …     is er nog hoop</a:t>
            </a:r>
            <a:endParaRPr b="0" lang="en-GB" sz="4400" spc="-1" strike="noStrike">
              <a:solidFill>
                <a:srgbClr val="000000"/>
              </a:solidFill>
              <a:latin typeface="Arial"/>
            </a:endParaRPr>
          </a:p>
        </p:txBody>
      </p:sp>
      <p:sp>
        <p:nvSpPr>
          <p:cNvPr id="56" name="PlaceHolder 2"/>
          <p:cNvSpPr>
            <a:spLocks noGrp="1"/>
          </p:cNvSpPr>
          <p:nvPr>
            <p:ph/>
          </p:nvPr>
        </p:nvSpPr>
        <p:spPr>
          <a:xfrm>
            <a:off x="648360" y="1620000"/>
            <a:ext cx="9071280" cy="3599640"/>
          </a:xfrm>
          <a:prstGeom prst="rect">
            <a:avLst/>
          </a:prstGeom>
          <a:noFill/>
          <a:ln w="0">
            <a:noFill/>
          </a:ln>
        </p:spPr>
        <p:txBody>
          <a:bodyPr lIns="0" rIns="0" tIns="0" bIns="0" anchor="t">
            <a:normAutofit fontScale="83888"/>
          </a:bodyPr>
          <a:p>
            <a:pPr marL="432000" indent="-324000">
              <a:lnSpc>
                <a:spcPct val="100000"/>
              </a:lnSpc>
              <a:spcBef>
                <a:spcPts val="1417"/>
              </a:spcBef>
              <a:buClr>
                <a:srgbClr val="3465a4"/>
              </a:buClr>
              <a:buSzPct val="45000"/>
              <a:buFont typeface="Wingdings" charset="2"/>
              <a:buChar char=""/>
            </a:pPr>
            <a:r>
              <a:rPr b="1" lang="nl-NL" sz="2600" spc="-1" strike="noStrike">
                <a:solidFill>
                  <a:srgbClr val="125c8d"/>
                </a:solidFill>
                <a:latin typeface="Arial"/>
              </a:rPr>
              <a:t>knelpunten</a:t>
            </a:r>
            <a:r>
              <a:rPr b="0" lang="nl-NL" sz="2600" spc="-1" strike="noStrike">
                <a:solidFill>
                  <a:srgbClr val="125c8d"/>
                </a:solidFill>
                <a:latin typeface="Arial"/>
              </a:rPr>
              <a:t>:</a:t>
            </a:r>
            <a:endParaRPr b="0" lang="en-GB" sz="26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400" spc="-1" strike="noStrike">
                <a:solidFill>
                  <a:srgbClr val="125c8d"/>
                </a:solidFill>
                <a:latin typeface="Arial"/>
              </a:rPr>
              <a:t>geen duidelijke aanspreekpunten</a:t>
            </a:r>
            <a:endParaRPr b="0" lang="en-GB" sz="24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400" spc="-1" strike="noStrike">
                <a:solidFill>
                  <a:srgbClr val="125c8d"/>
                </a:solidFill>
                <a:latin typeface="Arial"/>
              </a:rPr>
              <a:t>te weinig koppeling met beleid</a:t>
            </a:r>
            <a:endParaRPr b="0" lang="en-GB" sz="24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400" spc="-1" strike="noStrike">
                <a:solidFill>
                  <a:srgbClr val="125c8d"/>
                </a:solidFill>
                <a:latin typeface="Arial"/>
              </a:rPr>
              <a:t>gebrekkige kennisdeling</a:t>
            </a:r>
            <a:endParaRPr b="0" lang="en-GB" sz="24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1" lang="nl-NL" sz="2600" spc="-1" strike="noStrike">
                <a:solidFill>
                  <a:srgbClr val="3465a4"/>
                </a:solidFill>
                <a:latin typeface="Arial"/>
              </a:rPr>
              <a:t>behoefte aan</a:t>
            </a:r>
            <a:r>
              <a:rPr b="0" lang="nl-NL" sz="2600" spc="-1" strike="noStrike">
                <a:solidFill>
                  <a:srgbClr val="3465a4"/>
                </a:solidFill>
                <a:latin typeface="Arial"/>
              </a:rPr>
              <a:t>:</a:t>
            </a:r>
            <a:endParaRPr b="0" lang="en-GB" sz="26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400" spc="-1" strike="noStrike">
                <a:solidFill>
                  <a:srgbClr val="3465a4"/>
                </a:solidFill>
                <a:latin typeface="Arial"/>
              </a:rPr>
              <a:t>gerichte samenwerking burgers en (lokale) overheid</a:t>
            </a:r>
            <a:endParaRPr b="0" lang="en-GB" sz="24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400" spc="-1" strike="noStrike">
                <a:solidFill>
                  <a:srgbClr val="3465a4"/>
                </a:solidFill>
                <a:latin typeface="Arial"/>
              </a:rPr>
              <a:t>duidelijke en aanpasbare doelen</a:t>
            </a:r>
            <a:endParaRPr b="0" lang="en-GB" sz="2400" spc="-1" strike="noStrike">
              <a:solidFill>
                <a:srgbClr val="000000"/>
              </a:solidFill>
              <a:latin typeface="Arial"/>
            </a:endParaRPr>
          </a:p>
          <a:p>
            <a:pPr lvl="1" marL="864000" indent="-324000">
              <a:lnSpc>
                <a:spcPct val="100000"/>
              </a:lnSpc>
              <a:spcBef>
                <a:spcPts val="1134"/>
              </a:spcBef>
              <a:buClr>
                <a:srgbClr val="3465a4"/>
              </a:buClr>
              <a:buSzPct val="75000"/>
              <a:buFont typeface="Symbol" charset="2"/>
              <a:buChar char=""/>
            </a:pPr>
            <a:r>
              <a:rPr b="0" lang="nl-NL" sz="2400" spc="-1" strike="noStrike">
                <a:solidFill>
                  <a:srgbClr val="3465a4"/>
                </a:solidFill>
                <a:latin typeface="Arial"/>
              </a:rPr>
              <a:t>kennisdeling en structuur</a:t>
            </a:r>
            <a:endParaRPr b="0" lang="en-GB" sz="2400" spc="-1" strike="noStrike">
              <a:solidFill>
                <a:srgbClr val="000000"/>
              </a:solidFill>
              <a:latin typeface="Arial"/>
            </a:endParaRPr>
          </a:p>
        </p:txBody>
      </p:sp>
      <p:pic>
        <p:nvPicPr>
          <p:cNvPr id="57" name="" descr=""/>
          <p:cNvPicPr/>
          <p:nvPr/>
        </p:nvPicPr>
        <p:blipFill>
          <a:blip r:embed="rId1"/>
          <a:stretch/>
        </p:blipFill>
        <p:spPr>
          <a:xfrm>
            <a:off x="8215920" y="946080"/>
            <a:ext cx="1323720" cy="1933560"/>
          </a:xfrm>
          <a:prstGeom prst="rect">
            <a:avLst/>
          </a:prstGeom>
          <a:ln w="0">
            <a:noFill/>
          </a:ln>
        </p:spPr>
      </p:pic>
    </p:spTree>
  </p:cSld>
  <mc:AlternateContent>
    <mc:Choice Requires="p14">
      <p:transition spd="slow" p14:dur="3000"/>
    </mc:Choice>
    <mc:Fallback>
      <p:transition spd="slow"/>
    </mc:Fallback>
  </mc:AlternateContent>
  <p:timing>
    <p:tnLst>
      <p:par>
        <p:cTn id="177" dur="indefinite" restart="never" nodeType="tmRoot">
          <p:childTnLst>
            <p:seq>
              <p:cTn id="178" dur="indefinite" nodeType="mainSeq">
                <p:childTnLst>
                  <p:par>
                    <p:cTn id="179" fill="hold">
                      <p:stCondLst>
                        <p:cond delay="indefinite"/>
                      </p:stCondLst>
                      <p:childTnLst>
                        <p:par>
                          <p:cTn id="180" fill="hold">
                            <p:stCondLst>
                              <p:cond delay="0"/>
                            </p:stCondLst>
                            <p:childTnLst>
                              <p:par>
                                <p:cTn id="181" nodeType="clickEffect" fill="hold" presetClass="entr" presetID="1">
                                  <p:stCondLst>
                                    <p:cond delay="0"/>
                                  </p:stCondLst>
                                  <p:childTnLst>
                                    <p:set>
                                      <p:cBhvr>
                                        <p:cTn id="182" dur="1" fill="hold">
                                          <p:stCondLst>
                                            <p:cond delay="0"/>
                                          </p:stCondLst>
                                        </p:cTn>
                                        <p:tgtEl>
                                          <p:spTgt spid="56">
                                            <p:txEl>
                                              <p:pRg st="0" end="0"/>
                                            </p:txEl>
                                          </p:spTgt>
                                        </p:tgtEl>
                                        <p:attrNameLst>
                                          <p:attrName>style.visibility</p:attrName>
                                        </p:attrNameLst>
                                      </p:cBhvr>
                                      <p:to>
                                        <p:strVal val="visible"/>
                                      </p:to>
                                    </p:set>
                                  </p:childTnLst>
                                </p:cTn>
                              </p:par>
                              <p:par>
                                <p:cTn id="183" nodeType="withEffect" fill="hold" presetClass="entr" presetID="1">
                                  <p:stCondLst>
                                    <p:cond delay="0"/>
                                  </p:stCondLst>
                                  <p:childTnLst>
                                    <p:set>
                                      <p:cBhvr>
                                        <p:cTn id="184" dur="1" fill="hold">
                                          <p:stCondLst>
                                            <p:cond delay="0"/>
                                          </p:stCondLst>
                                        </p:cTn>
                                        <p:tgtEl>
                                          <p:spTgt spid="56">
                                            <p:txEl>
                                              <p:pRg st="1" end="1"/>
                                            </p:txEl>
                                          </p:spTgt>
                                        </p:tgtEl>
                                        <p:attrNameLst>
                                          <p:attrName>style.visibility</p:attrName>
                                        </p:attrNameLst>
                                      </p:cBhvr>
                                      <p:to>
                                        <p:strVal val="visible"/>
                                      </p:to>
                                    </p:set>
                                  </p:childTnLst>
                                </p:cTn>
                              </p:par>
                              <p:par>
                                <p:cTn id="185" nodeType="withEffect" fill="hold" presetClass="entr" presetID="1">
                                  <p:stCondLst>
                                    <p:cond delay="0"/>
                                  </p:stCondLst>
                                  <p:childTnLst>
                                    <p:set>
                                      <p:cBhvr>
                                        <p:cTn id="186" dur="1" fill="hold">
                                          <p:stCondLst>
                                            <p:cond delay="0"/>
                                          </p:stCondLst>
                                        </p:cTn>
                                        <p:tgtEl>
                                          <p:spTgt spid="56">
                                            <p:txEl>
                                              <p:pRg st="2" end="2"/>
                                            </p:txEl>
                                          </p:spTgt>
                                        </p:tgtEl>
                                        <p:attrNameLst>
                                          <p:attrName>style.visibility</p:attrName>
                                        </p:attrNameLst>
                                      </p:cBhvr>
                                      <p:to>
                                        <p:strVal val="visible"/>
                                      </p:to>
                                    </p:set>
                                  </p:childTnLst>
                                </p:cTn>
                              </p:par>
                              <p:par>
                                <p:cTn id="187" nodeType="withEffect" fill="hold" presetClass="entr" presetID="1">
                                  <p:stCondLst>
                                    <p:cond delay="0"/>
                                  </p:stCondLst>
                                  <p:childTnLst>
                                    <p:set>
                                      <p:cBhvr>
                                        <p:cTn id="188" dur="1" fill="hold">
                                          <p:stCondLst>
                                            <p:cond delay="0"/>
                                          </p:stCondLst>
                                        </p:cTn>
                                        <p:tgtEl>
                                          <p:spTgt spid="56">
                                            <p:txEl>
                                              <p:pRg st="3" end="3"/>
                                            </p:txEl>
                                          </p:spTgt>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nodeType="clickEffect" fill="hold" presetClass="entr" presetID="1">
                                  <p:stCondLst>
                                    <p:cond delay="0"/>
                                  </p:stCondLst>
                                  <p:childTnLst>
                                    <p:set>
                                      <p:cBhvr>
                                        <p:cTn id="192" dur="1" fill="hold">
                                          <p:stCondLst>
                                            <p:cond delay="0"/>
                                          </p:stCondLst>
                                        </p:cTn>
                                        <p:tgtEl>
                                          <p:spTgt spid="56">
                                            <p:txEl>
                                              <p:pRg st="4" end="4"/>
                                            </p:txEl>
                                          </p:spTgt>
                                        </p:tgtEl>
                                        <p:attrNameLst>
                                          <p:attrName>style.visibility</p:attrName>
                                        </p:attrNameLst>
                                      </p:cBhvr>
                                      <p:to>
                                        <p:strVal val="visible"/>
                                      </p:to>
                                    </p:set>
                                  </p:childTnLst>
                                </p:cTn>
                              </p:par>
                              <p:par>
                                <p:cTn id="193" nodeType="withEffect" fill="hold" presetClass="entr" presetID="1">
                                  <p:stCondLst>
                                    <p:cond delay="0"/>
                                  </p:stCondLst>
                                  <p:childTnLst>
                                    <p:set>
                                      <p:cBhvr>
                                        <p:cTn id="194" dur="1" fill="hold">
                                          <p:stCondLst>
                                            <p:cond delay="0"/>
                                          </p:stCondLst>
                                        </p:cTn>
                                        <p:tgtEl>
                                          <p:spTgt spid="56">
                                            <p:txEl>
                                              <p:pRg st="5" end="5"/>
                                            </p:txEl>
                                          </p:spTgt>
                                        </p:tgtEl>
                                        <p:attrNameLst>
                                          <p:attrName>style.visibility</p:attrName>
                                        </p:attrNameLst>
                                      </p:cBhvr>
                                      <p:to>
                                        <p:strVal val="visible"/>
                                      </p:to>
                                    </p:set>
                                  </p:childTnLst>
                                </p:cTn>
                              </p:par>
                              <p:par>
                                <p:cTn id="195" nodeType="withEffect" fill="hold" presetClass="entr" presetID="1">
                                  <p:stCondLst>
                                    <p:cond delay="0"/>
                                  </p:stCondLst>
                                  <p:childTnLst>
                                    <p:set>
                                      <p:cBhvr>
                                        <p:cTn id="196" dur="1" fill="hold">
                                          <p:stCondLst>
                                            <p:cond delay="0"/>
                                          </p:stCondLst>
                                        </p:cTn>
                                        <p:tgtEl>
                                          <p:spTgt spid="56">
                                            <p:txEl>
                                              <p:pRg st="6" end="6"/>
                                            </p:txEl>
                                          </p:spTgt>
                                        </p:tgtEl>
                                        <p:attrNameLst>
                                          <p:attrName>style.visibility</p:attrName>
                                        </p:attrNameLst>
                                      </p:cBhvr>
                                      <p:to>
                                        <p:strVal val="visible"/>
                                      </p:to>
                                    </p:set>
                                  </p:childTnLst>
                                </p:cTn>
                              </p:par>
                              <p:par>
                                <p:cTn id="197" nodeType="withEffect" fill="hold" presetClass="entr" presetID="1">
                                  <p:stCondLst>
                                    <p:cond delay="0"/>
                                  </p:stCondLst>
                                  <p:childTnLst>
                                    <p:set>
                                      <p:cBhvr>
                                        <p:cTn id="198" dur="1" fill="hold">
                                          <p:stCondLst>
                                            <p:cond delay="0"/>
                                          </p:stCondLst>
                                        </p:cTn>
                                        <p:tgtEl>
                                          <p:spTgt spid="56">
                                            <p:txEl>
                                              <p:pRg st="7" end="7"/>
                                            </p:txEl>
                                          </p:spTgt>
                                        </p:tgtEl>
                                        <p:attrNameLst>
                                          <p:attrName>style.visibility</p:attrName>
                                        </p:attrNameLst>
                                      </p:cBhvr>
                                      <p:to>
                                        <p:strVal val="visible"/>
                                      </p:to>
                                    </p:set>
                                  </p:childTnLst>
                                </p:cTn>
                              </p:par>
                              <p:animClr clrSpc="rgb">
                                <p:cBhvr>
                                  <p:cTn id="199" dur="1" fill="hold">
                                    <p:stCondLst>
                                      <p:cond delay="0"/>
                                    </p:stCondLst>
                                  </p:cTn>
                                  <p:tgtEl>
                                    <p:spTgt spid="56">
                                      <p:txEl>
                                        <p:pRg st="0" end="0"/>
                                      </p:txEl>
                                    </p:spTgt>
                                  </p:tgtEl>
                                  <p:attrNameLst>
                                    <p:attrName>ppt_c</p:attrName>
                                  </p:attrNameLst>
                                </p:cBhvr>
                                <p:to>
                                  <a:srgbClr val="999999"/>
                                </p:to>
                              </p:animClr>
                              <p:animClr clrSpc="rgb">
                                <p:cBhvr>
                                  <p:cTn id="200" dur="1" fill="hold">
                                    <p:stCondLst>
                                      <p:cond delay="0"/>
                                    </p:stCondLst>
                                  </p:cTn>
                                  <p:tgtEl>
                                    <p:spTgt spid="56">
                                      <p:txEl>
                                        <p:pRg st="1" end="1"/>
                                      </p:txEl>
                                    </p:spTgt>
                                  </p:tgtEl>
                                  <p:attrNameLst>
                                    <p:attrName>ppt_c</p:attrName>
                                  </p:attrNameLst>
                                </p:cBhvr>
                                <p:to>
                                  <a:srgbClr val="999999"/>
                                </p:to>
                              </p:animClr>
                              <p:animClr clrSpc="rgb">
                                <p:cBhvr>
                                  <p:cTn id="201" dur="1" fill="hold">
                                    <p:stCondLst>
                                      <p:cond delay="0"/>
                                    </p:stCondLst>
                                  </p:cTn>
                                  <p:tgtEl>
                                    <p:spTgt spid="56">
                                      <p:txEl>
                                        <p:pRg st="2" end="2"/>
                                      </p:txEl>
                                    </p:spTgt>
                                  </p:tgtEl>
                                  <p:attrNameLst>
                                    <p:attrName>ppt_c</p:attrName>
                                  </p:attrNameLst>
                                </p:cBhvr>
                                <p:to>
                                  <a:srgbClr val="999999"/>
                                </p:to>
                              </p:animClr>
                              <p:animClr clrSpc="rgb">
                                <p:cBhvr>
                                  <p:cTn id="202" dur="1" fill="hold">
                                    <p:stCondLst>
                                      <p:cond delay="0"/>
                                    </p:stCondLst>
                                  </p:cTn>
                                  <p:tgtEl>
                                    <p:spTgt spid="56">
                                      <p:txEl>
                                        <p:pRg st="3" end="3"/>
                                      </p:txEl>
                                    </p:spTgt>
                                  </p:tgtEl>
                                  <p:attrNameLst>
                                    <p:attrName>ppt_c</p:attrName>
                                  </p:attrNameLst>
                                </p:cBhvr>
                                <p:to>
                                  <a:srgbClr val="999999"/>
                                </p:to>
                              </p:animClr>
                            </p:childTnLst>
                          </p:cTn>
                        </p:par>
                        <p:par>
                          <p:cTn id="203" fill="hold">
                            <p:stCondLst>
                              <p:cond delay="1"/>
                            </p:stCondLst>
                            <p:childTnLst>
                              <p:par>
                                <p:cTn id="204" nodeType="afterEffect" fill="hold" presetClass="entr" presetID="1">
                                  <p:stCondLst>
                                    <p:cond delay="4000"/>
                                  </p:stCondLst>
                                  <p:childTnLst>
                                    <p:set>
                                      <p:cBhvr>
                                        <p:cTn id="205"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
          <p:cNvSpPr/>
          <p:nvPr/>
        </p:nvSpPr>
        <p:spPr>
          <a:xfrm>
            <a:off x="1800000" y="1800000"/>
            <a:ext cx="6755040" cy="3057480"/>
          </a:xfrm>
          <a:prstGeom prst="rect">
            <a:avLst/>
          </a:prstGeom>
          <a:solidFill>
            <a:srgbClr val="cccccc">
              <a:alpha val="37000"/>
            </a:srgbClr>
          </a:solidFill>
          <a:ln w="18000">
            <a:noFill/>
          </a:ln>
          <a:effectLst>
            <a:outerShdw blurRad="190440" dir="2700000" dist="89604" rotWithShape="0">
              <a:srgbClr val="b2b2b2"/>
            </a:outerShdw>
          </a:effectLst>
        </p:spPr>
        <p:style>
          <a:lnRef idx="0"/>
          <a:fillRef idx="0"/>
          <a:effectRef idx="0"/>
          <a:fontRef idx="minor"/>
        </p:style>
        <p:txBody>
          <a:bodyPr wrap="none" lIns="90000" rIns="90000" tIns="45000" bIns="45000" anchor="ctr">
            <a:noAutofit/>
          </a:bodyPr>
          <a:p>
            <a:pPr>
              <a:lnSpc>
                <a:spcPct val="100000"/>
              </a:lnSpc>
            </a:pPr>
            <a:endParaRPr b="0" lang="nl-NL" sz="1800" spc="-1" strike="noStrike">
              <a:solidFill>
                <a:srgbClr val="000000"/>
              </a:solidFill>
              <a:latin typeface="Arial"/>
              <a:ea typeface="DejaVu Sans"/>
            </a:endParaRPr>
          </a:p>
        </p:txBody>
      </p:sp>
      <p:sp>
        <p:nvSpPr>
          <p:cNvPr id="59" name="PlaceHolder 1"/>
          <p:cNvSpPr>
            <a:spLocks noGrp="1"/>
          </p:cNvSpPr>
          <p:nvPr>
            <p:ph type="title"/>
          </p:nvPr>
        </p:nvSpPr>
        <p:spPr>
          <a:xfrm>
            <a:off x="1012320" y="0"/>
            <a:ext cx="8167320" cy="1223640"/>
          </a:xfrm>
          <a:prstGeom prst="rect">
            <a:avLst/>
          </a:prstGeom>
          <a:noFill/>
          <a:ln w="0">
            <a:noFill/>
          </a:ln>
        </p:spPr>
        <p:txBody>
          <a:bodyPr lIns="0" rIns="0" tIns="0" bIns="0" anchor="ctr">
            <a:noAutofit/>
          </a:bodyPr>
          <a:p>
            <a:pPr indent="0" algn="ctr">
              <a:lnSpc>
                <a:spcPct val="100000"/>
              </a:lnSpc>
              <a:buNone/>
              <a:tabLst>
                <a:tab algn="l" pos="0"/>
              </a:tabLst>
            </a:pPr>
            <a:r>
              <a:rPr b="1" lang="nl-NL" sz="4800" spc="-1" strike="noStrike">
                <a:solidFill>
                  <a:srgbClr val="3465a4"/>
                </a:solidFill>
                <a:latin typeface="Arial"/>
              </a:rPr>
              <a:t>de   SLA  Brandbrief</a:t>
            </a:r>
            <a:endParaRPr b="0" lang="en-GB" sz="4800" spc="-1" strike="noStrike">
              <a:solidFill>
                <a:srgbClr val="000000"/>
              </a:solidFill>
              <a:latin typeface="Arial"/>
            </a:endParaRPr>
          </a:p>
        </p:txBody>
      </p:sp>
      <p:sp>
        <p:nvSpPr>
          <p:cNvPr id="60" name="Vorm 2"/>
          <p:cNvSpPr/>
          <p:nvPr/>
        </p:nvSpPr>
        <p:spPr>
          <a:xfrm>
            <a:off x="1873080" y="1800000"/>
            <a:ext cx="6766560" cy="2981160"/>
          </a:xfrm>
          <a:prstGeom prst="rect">
            <a:avLst/>
          </a:prstGeom>
          <a:solidFill>
            <a:srgbClr val="cce2f8"/>
          </a:solidFill>
          <a:ln w="18000">
            <a:noFill/>
          </a:ln>
        </p:spPr>
        <p:style>
          <a:lnRef idx="0"/>
          <a:fillRef idx="0"/>
          <a:effectRef idx="0"/>
          <a:fontRef idx="minor"/>
        </p:style>
        <p:txBody>
          <a:bodyPr lIns="90000" rIns="90000" tIns="45000" bIns="45000" anchor="t">
            <a:noAutofit/>
          </a:bodyPr>
          <a:p>
            <a:pPr marL="539640">
              <a:lnSpc>
                <a:spcPct val="100000"/>
              </a:lnSpc>
            </a:pPr>
            <a:r>
              <a:rPr b="1" lang="nl-NL" sz="2400" spc="-1" strike="noStrike">
                <a:solidFill>
                  <a:srgbClr val="000000"/>
                </a:solidFill>
                <a:latin typeface="Arial"/>
              </a:rPr>
              <a:t>· </a:t>
            </a:r>
            <a:r>
              <a:rPr b="0" lang="nl-NL" sz="1800" spc="-1" strike="noStrike">
                <a:solidFill>
                  <a:srgbClr val="000000"/>
                </a:solidFill>
                <a:latin typeface="Arial"/>
              </a:rPr>
              <a:t>breng een </a:t>
            </a:r>
            <a:r>
              <a:rPr b="1" lang="nl-NL" sz="1800" spc="-1" strike="noStrike">
                <a:solidFill>
                  <a:srgbClr val="000000"/>
                </a:solidFill>
                <a:latin typeface="Arial"/>
              </a:rPr>
              <a:t>structurele uitwisseling</a:t>
            </a:r>
            <a:r>
              <a:rPr b="0" lang="nl-NL" sz="1800" spc="-1" strike="noStrike">
                <a:solidFill>
                  <a:srgbClr val="000000"/>
                </a:solidFill>
                <a:latin typeface="Arial"/>
              </a:rPr>
              <a:t> op gang,</a:t>
            </a:r>
            <a:br>
              <a:rPr sz="1800"/>
            </a:br>
            <a:r>
              <a:rPr b="0" lang="nl-NL" sz="1800" spc="-1" strike="noStrike">
                <a:solidFill>
                  <a:srgbClr val="000000"/>
                </a:solidFill>
                <a:latin typeface="Arial"/>
              </a:rPr>
              <a:t>   waarin burgerwetenschap, beleid en techniek                     elkaar versterken.</a:t>
            </a:r>
            <a:endParaRPr b="0" lang="en-GB" sz="1800" spc="-1" strike="noStrike">
              <a:solidFill>
                <a:srgbClr val="000000"/>
              </a:solidFill>
              <a:latin typeface="Arial"/>
            </a:endParaRPr>
          </a:p>
          <a:p>
            <a:pPr marL="720000" indent="-178200">
              <a:lnSpc>
                <a:spcPct val="115000"/>
              </a:lnSpc>
              <a:spcAft>
                <a:spcPts val="850"/>
              </a:spcAft>
              <a:tabLst>
                <a:tab algn="l" pos="0"/>
              </a:tabLst>
            </a:pPr>
            <a:r>
              <a:rPr b="1" lang="nl-NL" sz="2400" spc="-1" strike="noStrike">
                <a:solidFill>
                  <a:srgbClr val="000000"/>
                </a:solidFill>
                <a:latin typeface="Arial"/>
              </a:rPr>
              <a:t>· </a:t>
            </a:r>
            <a:r>
              <a:rPr b="0" lang="nl-NL" sz="1800" spc="-1" strike="noStrike">
                <a:solidFill>
                  <a:srgbClr val="000000"/>
                </a:solidFill>
                <a:latin typeface="Arial"/>
              </a:rPr>
              <a:t>zorg dat de “ambtenaar” en de burgerwetenschapper</a:t>
            </a:r>
            <a:br>
              <a:rPr sz="1800"/>
            </a:br>
            <a:r>
              <a:rPr b="0" lang="nl-NL" sz="1800" spc="-1" strike="noStrike">
                <a:solidFill>
                  <a:srgbClr val="000000"/>
                </a:solidFill>
                <a:latin typeface="Arial"/>
              </a:rPr>
              <a:t>hun lokale </a:t>
            </a:r>
            <a:r>
              <a:rPr b="1" lang="nl-NL" sz="1800" spc="-1" strike="noStrike">
                <a:solidFill>
                  <a:srgbClr val="000000"/>
                </a:solidFill>
                <a:latin typeface="Arial"/>
              </a:rPr>
              <a:t>opties, zorgen en kennis</a:t>
            </a:r>
            <a:r>
              <a:rPr b="0" lang="nl-NL" sz="1800" spc="-1" strike="noStrike">
                <a:solidFill>
                  <a:srgbClr val="000000"/>
                </a:solidFill>
                <a:latin typeface="Arial"/>
              </a:rPr>
              <a:t> </a:t>
            </a:r>
            <a:r>
              <a:rPr b="1" lang="nl-NL" sz="1800" spc="-1" strike="noStrike">
                <a:solidFill>
                  <a:srgbClr val="000000"/>
                </a:solidFill>
                <a:latin typeface="Arial"/>
              </a:rPr>
              <a:t>gaan</a:t>
            </a:r>
            <a:r>
              <a:rPr b="0" lang="nl-NL" sz="1800" spc="-1" strike="noStrike">
                <a:solidFill>
                  <a:srgbClr val="000000"/>
                </a:solidFill>
                <a:latin typeface="Arial"/>
              </a:rPr>
              <a:t> </a:t>
            </a:r>
            <a:r>
              <a:rPr b="1" lang="nl-NL" sz="1800" spc="-1" strike="noStrike">
                <a:solidFill>
                  <a:srgbClr val="000000"/>
                </a:solidFill>
                <a:latin typeface="Arial"/>
              </a:rPr>
              <a:t>delen</a:t>
            </a:r>
            <a:r>
              <a:rPr b="0" lang="nl-NL" sz="1800" spc="-1" strike="noStrike">
                <a:solidFill>
                  <a:srgbClr val="000000"/>
                </a:solidFill>
                <a:latin typeface="Arial"/>
              </a:rPr>
              <a:t>.</a:t>
            </a:r>
            <a:endParaRPr b="0" lang="en-GB" sz="1800" spc="-1" strike="noStrike">
              <a:solidFill>
                <a:srgbClr val="000000"/>
              </a:solidFill>
              <a:latin typeface="Arial"/>
            </a:endParaRPr>
          </a:p>
          <a:p>
            <a:pPr marL="720000" indent="-178200">
              <a:lnSpc>
                <a:spcPct val="115000"/>
              </a:lnSpc>
              <a:tabLst>
                <a:tab algn="l" pos="0"/>
              </a:tabLst>
            </a:pPr>
            <a:r>
              <a:rPr b="1" lang="nl-NL" sz="2400" spc="-1" strike="noStrike">
                <a:solidFill>
                  <a:srgbClr val="000000"/>
                </a:solidFill>
                <a:latin typeface="Arial"/>
              </a:rPr>
              <a:t>· </a:t>
            </a:r>
            <a:r>
              <a:rPr b="1" lang="nl-NL" sz="1800" spc="-1" strike="noStrike">
                <a:solidFill>
                  <a:srgbClr val="000000"/>
                </a:solidFill>
                <a:latin typeface="Arial"/>
              </a:rPr>
              <a:t>veranker</a:t>
            </a:r>
            <a:r>
              <a:rPr b="0" lang="nl-NL" sz="1800" spc="-1" strike="noStrike">
                <a:solidFill>
                  <a:srgbClr val="000000"/>
                </a:solidFill>
                <a:latin typeface="Arial"/>
              </a:rPr>
              <a:t> </a:t>
            </a:r>
            <a:r>
              <a:rPr b="1" lang="nl-NL" sz="1800" spc="-1" strike="noStrike">
                <a:solidFill>
                  <a:srgbClr val="000000"/>
                </a:solidFill>
                <a:latin typeface="Arial"/>
              </a:rPr>
              <a:t>de lokale meetinfrastructuur </a:t>
            </a:r>
            <a:r>
              <a:rPr b="0" lang="nl-NL" sz="1800" spc="-1" strike="noStrike">
                <a:solidFill>
                  <a:srgbClr val="000000"/>
                </a:solidFill>
                <a:latin typeface="Arial"/>
              </a:rPr>
              <a:t>stevig,</a:t>
            </a:r>
            <a:br>
              <a:rPr sz="1800"/>
            </a:br>
            <a:r>
              <a:rPr b="0" lang="nl-NL" sz="1800" spc="-1" strike="noStrike">
                <a:solidFill>
                  <a:srgbClr val="000000"/>
                </a:solidFill>
                <a:latin typeface="Arial"/>
              </a:rPr>
              <a:t>zodat kennis en data beschikbaar blijven op</a:t>
            </a:r>
            <a:br>
              <a:rPr sz="1800"/>
            </a:br>
            <a:r>
              <a:rPr b="1" lang="nl-NL" sz="1800" spc="-1" strike="noStrike">
                <a:solidFill>
                  <a:srgbClr val="000000"/>
                </a:solidFill>
                <a:latin typeface="Arial"/>
              </a:rPr>
              <a:t>landelijk</a:t>
            </a:r>
            <a:r>
              <a:rPr b="0" lang="nl-NL" sz="1800" spc="-1" strike="noStrike">
                <a:solidFill>
                  <a:srgbClr val="000000"/>
                </a:solidFill>
                <a:latin typeface="Arial"/>
              </a:rPr>
              <a:t> </a:t>
            </a:r>
            <a:r>
              <a:rPr b="0" lang="nl-NL" sz="1800" spc="-1" strike="noStrike">
                <a:solidFill>
                  <a:srgbClr val="000000"/>
                </a:solidFill>
                <a:latin typeface="Arial"/>
                <a:ea typeface="Noto Sans CJK SC"/>
              </a:rPr>
              <a:t>én</a:t>
            </a:r>
            <a:r>
              <a:rPr b="1" lang="nl-NL" sz="1800" spc="-1" strike="noStrike">
                <a:solidFill>
                  <a:srgbClr val="000000"/>
                </a:solidFill>
                <a:latin typeface="Arial"/>
                <a:ea typeface="Noto Sans CJK SC"/>
              </a:rPr>
              <a:t> lokaal niveau</a:t>
            </a:r>
            <a:r>
              <a:rPr b="0" lang="nl-NL" sz="1800" spc="-1" strike="noStrike">
                <a:solidFill>
                  <a:srgbClr val="000000"/>
                </a:solidFill>
                <a:latin typeface="Arial"/>
                <a:ea typeface="Noto Sans CJK SC"/>
              </a:rPr>
              <a:t>.</a:t>
            </a:r>
            <a:endParaRPr b="0" lang="en-GB" sz="1800" spc="-1" strike="noStrike">
              <a:solidFill>
                <a:srgbClr val="000000"/>
              </a:solidFill>
              <a:latin typeface="Arial"/>
            </a:endParaRPr>
          </a:p>
          <a:p>
            <a:pPr marL="179640">
              <a:lnSpc>
                <a:spcPct val="115000"/>
              </a:lnSpc>
              <a:spcAft>
                <a:spcPts val="2835"/>
              </a:spcAft>
              <a:tabLst>
                <a:tab algn="l" pos="0"/>
              </a:tabLst>
            </a:pPr>
            <a:endParaRPr b="0" lang="en-GB" sz="1100" spc="-1" strike="noStrike">
              <a:solidFill>
                <a:srgbClr val="000000"/>
              </a:solidFill>
              <a:latin typeface="Arial"/>
            </a:endParaRPr>
          </a:p>
        </p:txBody>
      </p:sp>
      <p:pic>
        <p:nvPicPr>
          <p:cNvPr id="61" name="" descr=""/>
          <p:cNvPicPr/>
          <p:nvPr/>
        </p:nvPicPr>
        <p:blipFill>
          <a:blip r:embed="rId1">
            <a:extLst>
              <a:ext uri="{96DAC541-7B7A-43D3-8B79-37D633B846F1}">
                <asvg:svgBlip xmlns:asvg="http://schemas.microsoft.com/office/drawing/2016/SVG/main" r:embed="rId2"/>
              </a:ext>
            </a:extLst>
          </a:blip>
          <a:stretch/>
        </p:blipFill>
        <p:spPr>
          <a:xfrm>
            <a:off x="468000" y="360000"/>
            <a:ext cx="1439640" cy="1796040"/>
          </a:xfrm>
          <a:prstGeom prst="rect">
            <a:avLst/>
          </a:prstGeom>
          <a:ln w="0">
            <a:noFill/>
          </a:ln>
        </p:spPr>
      </p:pic>
      <p:sp>
        <p:nvSpPr>
          <p:cNvPr id="62" name=""/>
          <p:cNvSpPr/>
          <p:nvPr/>
        </p:nvSpPr>
        <p:spPr>
          <a:xfrm>
            <a:off x="2088000" y="1001880"/>
            <a:ext cx="7451640" cy="617760"/>
          </a:xfrm>
          <a:prstGeom prst="rect">
            <a:avLst/>
          </a:prstGeom>
          <a:noFill/>
          <a:ln w="18000">
            <a:noFill/>
          </a:ln>
        </p:spPr>
        <p:style>
          <a:lnRef idx="0"/>
          <a:fillRef idx="0"/>
          <a:effectRef idx="0"/>
          <a:fontRef idx="minor"/>
        </p:style>
        <p:txBody>
          <a:bodyPr lIns="90000" rIns="90000" tIns="45000" bIns="45000" anchor="t">
            <a:noAutofit/>
          </a:bodyPr>
          <a:p>
            <a:pPr>
              <a:lnSpc>
                <a:spcPct val="100000"/>
              </a:lnSpc>
            </a:pPr>
            <a:r>
              <a:rPr b="1" lang="nl-NL" sz="3200" spc="-1" strike="noStrike">
                <a:solidFill>
                  <a:srgbClr val="808080"/>
                </a:solidFill>
                <a:latin typeface="Arial"/>
              </a:rPr>
              <a:t>            </a:t>
            </a:r>
            <a:r>
              <a:rPr b="1" lang="nl-NL" sz="3200" spc="-1" strike="noStrike">
                <a:solidFill>
                  <a:srgbClr val="808080"/>
                </a:solidFill>
                <a:latin typeface="Arial"/>
              </a:rPr>
              <a:t>5 november 2025</a:t>
            </a:r>
            <a:endParaRPr b="0" lang="en-GB" sz="3200" spc="-1" strike="noStrike">
              <a:solidFill>
                <a:srgbClr val="000000"/>
              </a:solidFill>
              <a:latin typeface="Arial"/>
            </a:endParaRPr>
          </a:p>
        </p:txBody>
      </p:sp>
      <p:sp>
        <p:nvSpPr>
          <p:cNvPr id="63" name=""/>
          <p:cNvSpPr/>
          <p:nvPr/>
        </p:nvSpPr>
        <p:spPr>
          <a:xfrm>
            <a:off x="720000" y="4857840"/>
            <a:ext cx="5499000" cy="541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nl-NL" sz="1600" spc="-1" strike="noStrike">
                <a:solidFill>
                  <a:srgbClr val="1e527a"/>
                </a:solidFill>
                <a:latin typeface="Arial"/>
                <a:ea typeface="Lohit Devanagari"/>
              </a:rPr>
              <a:t>samen meten, leren en handelen</a:t>
            </a:r>
            <a:br>
              <a:rPr sz="1600"/>
            </a:br>
            <a:r>
              <a:rPr b="1" lang="nl-NL" sz="1600" spc="-1" strike="noStrike">
                <a:solidFill>
                  <a:srgbClr val="1e527a"/>
                </a:solidFill>
                <a:latin typeface="Arial"/>
                <a:ea typeface="Lohit Devanagari"/>
              </a:rPr>
              <a:t>het kan: </a:t>
            </a:r>
            <a:r>
              <a:rPr b="1" i="1" lang="nl-NL" sz="1600" spc="-1" strike="noStrike">
                <a:solidFill>
                  <a:srgbClr val="1e527a"/>
                </a:solidFill>
                <a:latin typeface="Arial"/>
                <a:ea typeface="Lohit Devanagari"/>
              </a:rPr>
              <a:t>we vullen het SLA glas niet half maar helemaal</a:t>
            </a:r>
            <a:endParaRPr b="0" lang="en-GB" sz="1600" spc="-1" strike="noStrike">
              <a:solidFill>
                <a:srgbClr val="000000"/>
              </a:solidFill>
              <a:latin typeface="Arial"/>
            </a:endParaRPr>
          </a:p>
        </p:txBody>
      </p:sp>
    </p:spTree>
  </p:cSld>
  <mc:AlternateContent>
    <mc:Choice Requires="p14">
      <p:transition spd="slow" p14:dur="3000"/>
    </mc:Choice>
    <mc:Fallback>
      <p:transition spd="slow"/>
    </mc:Fallback>
  </mc:AlternateContent>
  <p:timing>
    <p:tnLst>
      <p:par>
        <p:cTn id="206" dur="indefinite" restart="never" nodeType="tmRoot">
          <p:childTnLst>
            <p:seq>
              <p:cTn id="207" dur="indefinite" nodeType="mainSeq">
                <p:childTnLst>
                  <p:par>
                    <p:cTn id="208" fill="hold">
                      <p:stCondLst>
                        <p:cond delay="0"/>
                      </p:stCondLst>
                      <p:childTnLst>
                        <p:par>
                          <p:cTn id="209" fill="hold">
                            <p:stCondLst>
                              <p:cond delay="0"/>
                            </p:stCondLst>
                            <p:childTnLst>
                              <p:par>
                                <p:cTn id="210" nodeType="withEffect" fill="hold" presetClass="entr" presetID="1">
                                  <p:stCondLst>
                                    <p:cond delay="2000"/>
                                  </p:stCondLst>
                                  <p:childTnLst>
                                    <p:set>
                                      <p:cBhvr>
                                        <p:cTn id="211" dur="1" fill="hold">
                                          <p:stCondLst>
                                            <p:cond delay="0"/>
                                          </p:stCondLst>
                                        </p:cTn>
                                        <p:tgtEl>
                                          <p:spTgt spid="61"/>
                                        </p:tgtEl>
                                        <p:attrNameLst>
                                          <p:attrName>style.visibility</p:attrName>
                                        </p:attrNameLst>
                                      </p:cBhvr>
                                      <p:to>
                                        <p:strVal val="visible"/>
                                      </p:to>
                                    </p:set>
                                  </p:childTnLst>
                                </p:cTn>
                              </p:par>
                            </p:childTnLst>
                          </p:cTn>
                        </p:par>
                        <p:par>
                          <p:cTn id="212" fill="hold">
                            <p:stCondLst>
                              <p:cond delay="2001"/>
                            </p:stCondLst>
                            <p:childTnLst>
                              <p:par>
                                <p:cTn id="213" nodeType="afterEffect" fill="hold" presetClass="entr" presetID="1">
                                  <p:stCondLst>
                                    <p:cond delay="4000"/>
                                  </p:stCondLst>
                                  <p:childTnLst>
                                    <p:set>
                                      <p:cBhvr>
                                        <p:cTn id="214" dur="1" fill="hold">
                                          <p:stCondLst>
                                            <p:cond delay="0"/>
                                          </p:stCondLst>
                                        </p:cTn>
                                        <p:tgtEl>
                                          <p:spTgt spid="58"/>
                                        </p:tgtEl>
                                        <p:attrNameLst>
                                          <p:attrName>style.visibility</p:attrName>
                                        </p:attrNameLst>
                                      </p:cBhvr>
                                      <p:to>
                                        <p:strVal val="visible"/>
                                      </p:to>
                                    </p:set>
                                  </p:childTnLst>
                                </p:cTn>
                              </p:par>
                              <p:par>
                                <p:cTn id="215" nodeType="withEffect" fill="hold" presetClass="entr" presetID="1">
                                  <p:stCondLst>
                                    <p:cond delay="4000"/>
                                  </p:stCondLst>
                                  <p:childTnLst>
                                    <p:set>
                                      <p:cBhvr>
                                        <p:cTn id="216" dur="1" fill="hold">
                                          <p:stCondLst>
                                            <p:cond delay="0"/>
                                          </p:stCondLst>
                                        </p:cTn>
                                        <p:tgtEl>
                                          <p:spTgt spid="60"/>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nodeType="clickEffect" fill="hold" presetClass="entr" presetID="1">
                                  <p:stCondLst>
                                    <p:cond delay="0"/>
                                  </p:stCondLst>
                                  <p:childTnLst>
                                    <p:set>
                                      <p:cBhvr>
                                        <p:cTn id="220"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 descr=""/>
          <p:cNvPicPr/>
          <p:nvPr/>
        </p:nvPicPr>
        <p:blipFill>
          <a:blip r:embed="rId1"/>
          <a:srcRect l="0" t="15459" r="0" b="8588"/>
          <a:stretch/>
        </p:blipFill>
        <p:spPr>
          <a:xfrm>
            <a:off x="288360" y="0"/>
            <a:ext cx="9793080" cy="5669280"/>
          </a:xfrm>
          <a:prstGeom prst="rect">
            <a:avLst/>
          </a:prstGeom>
          <a:ln w="0">
            <a:noFill/>
          </a:ln>
        </p:spPr>
      </p:pic>
      <p:sp>
        <p:nvSpPr>
          <p:cNvPr id="65" name=""/>
          <p:cNvSpPr/>
          <p:nvPr/>
        </p:nvSpPr>
        <p:spPr>
          <a:xfrm>
            <a:off x="505800" y="5427000"/>
            <a:ext cx="3023640" cy="289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nl-NL" sz="1400" spc="-1" strike="noStrike">
                <a:solidFill>
                  <a:srgbClr val="193300"/>
                </a:solidFill>
                <a:latin typeface="Arial"/>
              </a:rPr>
              <a:t>naar photo: Io Cooman, Volkskrant</a:t>
            </a:r>
            <a:endParaRPr b="0" lang="en-GB" sz="1400" spc="-1" strike="noStrike">
              <a:solidFill>
                <a:srgbClr val="000000"/>
              </a:solidFill>
              <a:latin typeface="Arial"/>
            </a:endParaRPr>
          </a:p>
        </p:txBody>
      </p:sp>
      <p:sp>
        <p:nvSpPr>
          <p:cNvPr id="66" name=""/>
          <p:cNvSpPr/>
          <p:nvPr/>
        </p:nvSpPr>
        <p:spPr>
          <a:xfrm>
            <a:off x="397800" y="4608000"/>
            <a:ext cx="5219640" cy="683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nl-NL" sz="1800" spc="-1" strike="noStrike">
                <a:solidFill>
                  <a:srgbClr val="ffffff"/>
                </a:solidFill>
                <a:latin typeface="Arial"/>
              </a:rPr>
              <a:t>download:</a:t>
            </a:r>
            <a:r>
              <a:rPr b="1" lang="nl-NL" sz="1800" spc="-1" strike="noStrike">
                <a:solidFill>
                  <a:srgbClr val="125c8d"/>
                </a:solidFill>
                <a:latin typeface="Arial"/>
              </a:rPr>
              <a:t> </a:t>
            </a:r>
            <a:r>
              <a:rPr b="1" lang="nl-NL" sz="1800" spc="-1" strike="noStrike">
                <a:solidFill>
                  <a:srgbClr val="ffffff"/>
                </a:solidFill>
                <a:latin typeface="Arial"/>
              </a:rPr>
              <a:t>github.com/teusH/MySense/reports/</a:t>
            </a:r>
            <a:endParaRPr b="0" lang="en-GB" sz="1800" spc="-1" strike="noStrike">
              <a:solidFill>
                <a:srgbClr val="000000"/>
              </a:solidFill>
              <a:latin typeface="Arial"/>
            </a:endParaRPr>
          </a:p>
        </p:txBody>
      </p:sp>
      <p:grpSp>
        <p:nvGrpSpPr>
          <p:cNvPr id="67" name=""/>
          <p:cNvGrpSpPr/>
          <p:nvPr/>
        </p:nvGrpSpPr>
        <p:grpSpPr>
          <a:xfrm>
            <a:off x="216360" y="36000"/>
            <a:ext cx="3923280" cy="4463640"/>
            <a:chOff x="216360" y="36000"/>
            <a:chExt cx="3923280" cy="4463640"/>
          </a:xfrm>
        </p:grpSpPr>
        <p:sp>
          <p:nvSpPr>
            <p:cNvPr id="68" name=""/>
            <p:cNvSpPr/>
            <p:nvPr/>
          </p:nvSpPr>
          <p:spPr>
            <a:xfrm>
              <a:off x="303480" y="36000"/>
              <a:ext cx="3836160" cy="4304160"/>
            </a:xfrm>
            <a:custGeom>
              <a:avLst/>
              <a:gdLst>
                <a:gd name="textAreaLeft" fmla="*/ 0 w 3836160"/>
                <a:gd name="textAreaRight" fmla="*/ 3836520 w 3836160"/>
                <a:gd name="textAreaTop" fmla="*/ 0 h 4304160"/>
                <a:gd name="textAreaBottom" fmla="*/ 4304520 h 4304160"/>
              </a:gdLst>
              <a:ahLst/>
              <a:rect l="textAreaLeft" t="textAreaTop" r="textAreaRight" b="textAreaBottom"/>
              <a:pathLst>
                <a:path w="10657" h="11957">
                  <a:moveTo>
                    <a:pt x="10657" y="0"/>
                  </a:moveTo>
                  <a:cubicBezTo>
                    <a:pt x="7103" y="2884"/>
                    <a:pt x="2014" y="9073"/>
                    <a:pt x="0" y="11957"/>
                  </a:cubicBezTo>
                  <a:cubicBezTo>
                    <a:pt x="3963" y="9650"/>
                    <a:pt x="5771" y="10286"/>
                    <a:pt x="10065" y="10382"/>
                  </a:cubicBezTo>
                  <a:cubicBezTo>
                    <a:pt x="9404" y="7114"/>
                    <a:pt x="9006" y="2884"/>
                    <a:pt x="10657" y="0"/>
                  </a:cubicBezTo>
                  <a:close/>
                </a:path>
              </a:pathLst>
            </a:custGeom>
            <a:gradFill rotWithShape="0">
              <a:gsLst>
                <a:gs pos="0">
                  <a:srgbClr val="cccccc">
                    <a:alpha val="65000"/>
                  </a:srgbClr>
                </a:gs>
                <a:gs pos="50000">
                  <a:srgbClr val="cccccc">
                    <a:alpha val="90000"/>
                  </a:srgbClr>
                </a:gs>
                <a:gs pos="100000">
                  <a:srgbClr val="cccccc">
                    <a:alpha val="65000"/>
                  </a:srgbClr>
                </a:gs>
              </a:gsLst>
              <a:lin ang="5400000"/>
            </a:gradFill>
            <a:ln w="6480">
              <a:solidFill>
                <a:srgbClr val="ffffff"/>
              </a:solidFill>
              <a:round/>
            </a:ln>
          </p:spPr>
          <p:style>
            <a:lnRef idx="0"/>
            <a:fillRef idx="0"/>
            <a:effectRef idx="0"/>
            <a:fontRef idx="minor"/>
          </p:style>
          <p:txBody>
            <a:bodyPr lIns="84240" rIns="84240" tIns="39240" bIns="39240" anchor="ctr">
              <a:noAutofit/>
            </a:bodyPr>
            <a:p>
              <a:pPr>
                <a:lnSpc>
                  <a:spcPct val="100000"/>
                </a:lnSpc>
              </a:pPr>
              <a:endParaRPr b="0" lang="nl-NL" sz="1800" spc="-1" strike="noStrike">
                <a:solidFill>
                  <a:srgbClr val="000000"/>
                </a:solidFill>
                <a:latin typeface="Arial"/>
              </a:endParaRPr>
            </a:p>
          </p:txBody>
        </p:sp>
        <p:sp>
          <p:nvSpPr>
            <p:cNvPr id="69" name=""/>
            <p:cNvSpPr/>
            <p:nvPr/>
          </p:nvSpPr>
          <p:spPr>
            <a:xfrm>
              <a:off x="216360" y="36000"/>
              <a:ext cx="3923280" cy="4463640"/>
            </a:xfrm>
            <a:custGeom>
              <a:avLst/>
              <a:gdLst>
                <a:gd name="textAreaLeft" fmla="*/ 0 w 3923280"/>
                <a:gd name="textAreaRight" fmla="*/ 3923640 w 3923280"/>
                <a:gd name="textAreaTop" fmla="*/ 0 h 4463640"/>
                <a:gd name="textAreaBottom" fmla="*/ 4464000 h 4463640"/>
              </a:gdLst>
              <a:ahLst/>
              <a:rect l="textAreaLeft" t="textAreaTop" r="textAreaRight" b="textAreaBottom"/>
              <a:pathLst>
                <a:path w="10899" h="12400">
                  <a:moveTo>
                    <a:pt x="10899" y="0"/>
                  </a:moveTo>
                  <a:cubicBezTo>
                    <a:pt x="7156" y="0"/>
                    <a:pt x="3743" y="0"/>
                    <a:pt x="0" y="0"/>
                  </a:cubicBezTo>
                  <a:cubicBezTo>
                    <a:pt x="0" y="2595"/>
                    <a:pt x="0" y="9805"/>
                    <a:pt x="0" y="12400"/>
                  </a:cubicBezTo>
                  <a:cubicBezTo>
                    <a:pt x="5568" y="6344"/>
                    <a:pt x="7937" y="4038"/>
                    <a:pt x="10899" y="0"/>
                  </a:cubicBezTo>
                  <a:close/>
                </a:path>
              </a:pathLst>
            </a:cu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nl-NL" sz="1800" spc="-1" strike="noStrike">
                <a:solidFill>
                  <a:srgbClr val="000000"/>
                </a:solidFill>
                <a:latin typeface="Arial"/>
              </a:endParaRPr>
            </a:p>
          </p:txBody>
        </p:sp>
      </p:grpSp>
      <p:grpSp>
        <p:nvGrpSpPr>
          <p:cNvPr id="70" name=""/>
          <p:cNvGrpSpPr/>
          <p:nvPr/>
        </p:nvGrpSpPr>
        <p:grpSpPr>
          <a:xfrm>
            <a:off x="7020000" y="0"/>
            <a:ext cx="3061440" cy="6299640"/>
            <a:chOff x="7020000" y="0"/>
            <a:chExt cx="3061440" cy="6299640"/>
          </a:xfrm>
        </p:grpSpPr>
        <p:sp>
          <p:nvSpPr>
            <p:cNvPr id="71" name=""/>
            <p:cNvSpPr/>
            <p:nvPr/>
          </p:nvSpPr>
          <p:spPr>
            <a:xfrm>
              <a:off x="7020000" y="0"/>
              <a:ext cx="1760040" cy="6299640"/>
            </a:xfrm>
            <a:custGeom>
              <a:avLst/>
              <a:gdLst>
                <a:gd name="textAreaLeft" fmla="*/ 0 w 1760040"/>
                <a:gd name="textAreaRight" fmla="*/ 1760400 w 1760040"/>
                <a:gd name="textAreaTop" fmla="*/ 0 h 6299640"/>
                <a:gd name="textAreaBottom" fmla="*/ 6300000 h 6299640"/>
              </a:gdLst>
              <a:ahLst/>
              <a:rect l="textAreaLeft" t="textAreaTop" r="textAreaRight" b="textAreaBottom"/>
              <a:pathLst>
                <a:path w="4890" h="17500">
                  <a:moveTo>
                    <a:pt x="3465" y="0"/>
                  </a:moveTo>
                  <a:cubicBezTo>
                    <a:pt x="5040" y="1500"/>
                    <a:pt x="5040" y="12000"/>
                    <a:pt x="4725" y="16213"/>
                  </a:cubicBezTo>
                  <a:cubicBezTo>
                    <a:pt x="3150" y="16500"/>
                    <a:pt x="1575" y="17500"/>
                    <a:pt x="295" y="17500"/>
                  </a:cubicBezTo>
                  <a:cubicBezTo>
                    <a:pt x="315" y="17000"/>
                    <a:pt x="315" y="8500"/>
                    <a:pt x="0" y="3603"/>
                  </a:cubicBezTo>
                  <a:cubicBezTo>
                    <a:pt x="2520" y="3000"/>
                    <a:pt x="2372" y="3088"/>
                    <a:pt x="3465" y="0"/>
                  </a:cubicBezTo>
                  <a:close/>
                </a:path>
              </a:pathLst>
            </a:custGeom>
            <a:gradFill rotWithShape="0">
              <a:gsLst>
                <a:gs pos="15000">
                  <a:srgbClr val="cccccc">
                    <a:alpha val="70000"/>
                  </a:srgbClr>
                </a:gs>
                <a:gs pos="50000">
                  <a:srgbClr val="cccccc">
                    <a:alpha val="90000"/>
                  </a:srgbClr>
                </a:gs>
                <a:gs pos="85000">
                  <a:srgbClr val="cccccc">
                    <a:alpha val="70000"/>
                  </a:srgbClr>
                </a:gs>
              </a:gsLst>
              <a:lin ang="5400000"/>
            </a:gradFill>
            <a:ln w="6480">
              <a:solidFill>
                <a:srgbClr val="ffffff"/>
              </a:solidFill>
              <a:round/>
            </a:ln>
          </p:spPr>
          <p:style>
            <a:lnRef idx="0"/>
            <a:fillRef idx="0"/>
            <a:effectRef idx="0"/>
            <a:fontRef idx="minor"/>
          </p:style>
          <p:txBody>
            <a:bodyPr lIns="84240" rIns="84240" tIns="39240" bIns="39240" anchor="ctr">
              <a:noAutofit/>
            </a:bodyPr>
            <a:p>
              <a:pPr>
                <a:lnSpc>
                  <a:spcPct val="100000"/>
                </a:lnSpc>
              </a:pPr>
              <a:endParaRPr b="0" lang="nl-NL" sz="1800" spc="-1" strike="noStrike">
                <a:solidFill>
                  <a:srgbClr val="000000"/>
                </a:solidFill>
                <a:latin typeface="Arial"/>
              </a:endParaRPr>
            </a:p>
          </p:txBody>
        </p:sp>
        <p:sp>
          <p:nvSpPr>
            <p:cNvPr id="72" name=""/>
            <p:cNvSpPr/>
            <p:nvPr/>
          </p:nvSpPr>
          <p:spPr>
            <a:xfrm>
              <a:off x="8289360" y="0"/>
              <a:ext cx="1792080" cy="5691960"/>
            </a:xfrm>
            <a:custGeom>
              <a:avLst/>
              <a:gdLst>
                <a:gd name="textAreaLeft" fmla="*/ 0 w 1792080"/>
                <a:gd name="textAreaRight" fmla="*/ 1792440 w 1792080"/>
                <a:gd name="textAreaTop" fmla="*/ 0 h 5691960"/>
                <a:gd name="textAreaBottom" fmla="*/ 5692320 h 5691960"/>
              </a:gdLst>
              <a:ahLst/>
              <a:rect l="textAreaLeft" t="textAreaTop" r="textAreaRight" b="textAreaBottom"/>
              <a:pathLst>
                <a:path w="4979" h="15812">
                  <a:moveTo>
                    <a:pt x="0" y="0"/>
                  </a:moveTo>
                  <a:cubicBezTo>
                    <a:pt x="1763" y="0"/>
                    <a:pt x="3216" y="0"/>
                    <a:pt x="4979" y="0"/>
                  </a:cubicBezTo>
                  <a:cubicBezTo>
                    <a:pt x="4979" y="3273"/>
                    <a:pt x="4979" y="12510"/>
                    <a:pt x="4979" y="15782"/>
                  </a:cubicBezTo>
                  <a:cubicBezTo>
                    <a:pt x="4034" y="15787"/>
                    <a:pt x="2459" y="15863"/>
                    <a:pt x="1199" y="15750"/>
                  </a:cubicBezTo>
                  <a:cubicBezTo>
                    <a:pt x="884" y="6000"/>
                    <a:pt x="884" y="8000"/>
                    <a:pt x="0" y="0"/>
                  </a:cubicBezTo>
                  <a:close/>
                </a:path>
              </a:pathLst>
            </a:custGeom>
            <a:solidFill>
              <a:srgbClr val="ffffff"/>
            </a:solidFill>
            <a:ln w="6480">
              <a:solidFill>
                <a:srgbClr val="ffffff"/>
              </a:solidFill>
              <a:round/>
            </a:ln>
          </p:spPr>
          <p:style>
            <a:lnRef idx="0"/>
            <a:fillRef idx="0"/>
            <a:effectRef idx="0"/>
            <a:fontRef idx="minor"/>
          </p:style>
          <p:txBody>
            <a:bodyPr lIns="84240" rIns="84240" tIns="39240" bIns="39240" anchor="ctr">
              <a:noAutofit/>
            </a:bodyPr>
            <a:p>
              <a:pPr>
                <a:lnSpc>
                  <a:spcPct val="100000"/>
                </a:lnSpc>
              </a:pPr>
              <a:endParaRPr b="0" lang="nl-NL" sz="1800" spc="-1" strike="noStrike">
                <a:solidFill>
                  <a:srgbClr val="000000"/>
                </a:solidFill>
                <a:latin typeface="Arial"/>
              </a:endParaRPr>
            </a:p>
          </p:txBody>
        </p:sp>
      </p:grpSp>
      <p:grpSp>
        <p:nvGrpSpPr>
          <p:cNvPr id="73" name=""/>
          <p:cNvGrpSpPr/>
          <p:nvPr/>
        </p:nvGrpSpPr>
        <p:grpSpPr>
          <a:xfrm>
            <a:off x="218160" y="34560"/>
            <a:ext cx="5721480" cy="5545080"/>
            <a:chOff x="218160" y="34560"/>
            <a:chExt cx="5721480" cy="5545080"/>
          </a:xfrm>
        </p:grpSpPr>
        <p:sp>
          <p:nvSpPr>
            <p:cNvPr id="74" name=""/>
            <p:cNvSpPr/>
            <p:nvPr/>
          </p:nvSpPr>
          <p:spPr>
            <a:xfrm>
              <a:off x="345240" y="34560"/>
              <a:ext cx="5594400" cy="5346720"/>
            </a:xfrm>
            <a:custGeom>
              <a:avLst/>
              <a:gdLst>
                <a:gd name="textAreaLeft" fmla="*/ 0 w 5594400"/>
                <a:gd name="textAreaRight" fmla="*/ 5594760 w 5594400"/>
                <a:gd name="textAreaTop" fmla="*/ 0 h 5346720"/>
                <a:gd name="textAreaBottom" fmla="*/ 5347080 h 5346720"/>
              </a:gdLst>
              <a:ahLst/>
              <a:rect l="textAreaLeft" t="textAreaTop" r="textAreaRight" b="textAreaBottom"/>
              <a:pathLst>
                <a:path w="15541" h="14853">
                  <a:moveTo>
                    <a:pt x="15541" y="0"/>
                  </a:moveTo>
                  <a:cubicBezTo>
                    <a:pt x="10358" y="3583"/>
                    <a:pt x="2937" y="11271"/>
                    <a:pt x="0" y="14853"/>
                  </a:cubicBezTo>
                  <a:cubicBezTo>
                    <a:pt x="5779" y="11988"/>
                    <a:pt x="8417" y="12778"/>
                    <a:pt x="14678" y="12897"/>
                  </a:cubicBezTo>
                  <a:cubicBezTo>
                    <a:pt x="13714" y="8837"/>
                    <a:pt x="13133" y="3583"/>
                    <a:pt x="15541" y="0"/>
                  </a:cubicBezTo>
                  <a:close/>
                </a:path>
              </a:pathLst>
            </a:custGeom>
            <a:gradFill rotWithShape="0">
              <a:gsLst>
                <a:gs pos="0">
                  <a:srgbClr val="cccccc">
                    <a:alpha val="65000"/>
                  </a:srgbClr>
                </a:gs>
                <a:gs pos="50000">
                  <a:srgbClr val="cccccc">
                    <a:alpha val="90000"/>
                  </a:srgbClr>
                </a:gs>
                <a:gs pos="100000">
                  <a:srgbClr val="cccccc">
                    <a:alpha val="65000"/>
                  </a:srgbClr>
                </a:gs>
              </a:gsLst>
              <a:lin ang="5400000"/>
            </a:gradFill>
            <a:ln w="6480">
              <a:solidFill>
                <a:srgbClr val="ffffff"/>
              </a:solidFill>
              <a:round/>
            </a:ln>
          </p:spPr>
          <p:style>
            <a:lnRef idx="0"/>
            <a:fillRef idx="0"/>
            <a:effectRef idx="0"/>
            <a:fontRef idx="minor"/>
          </p:style>
          <p:txBody>
            <a:bodyPr lIns="84240" rIns="84240" tIns="39240" bIns="39240" anchor="ctr">
              <a:noAutofit/>
            </a:bodyPr>
            <a:p>
              <a:pPr>
                <a:lnSpc>
                  <a:spcPct val="100000"/>
                </a:lnSpc>
              </a:pPr>
              <a:endParaRPr b="0" lang="nl-NL" sz="1800" spc="-1" strike="noStrike">
                <a:solidFill>
                  <a:srgbClr val="000000"/>
                </a:solidFill>
                <a:latin typeface="Arial"/>
              </a:endParaRPr>
            </a:p>
          </p:txBody>
        </p:sp>
        <p:sp>
          <p:nvSpPr>
            <p:cNvPr id="75" name=""/>
            <p:cNvSpPr/>
            <p:nvPr/>
          </p:nvSpPr>
          <p:spPr>
            <a:xfrm>
              <a:off x="218160" y="34560"/>
              <a:ext cx="5721480" cy="5545080"/>
            </a:xfrm>
            <a:custGeom>
              <a:avLst/>
              <a:gdLst>
                <a:gd name="textAreaLeft" fmla="*/ 0 w 5721480"/>
                <a:gd name="textAreaRight" fmla="*/ 5721840 w 5721480"/>
                <a:gd name="textAreaTop" fmla="*/ 0 h 5545080"/>
                <a:gd name="textAreaBottom" fmla="*/ 5545440 h 5545080"/>
              </a:gdLst>
              <a:ahLst/>
              <a:rect l="textAreaLeft" t="textAreaTop" r="textAreaRight" b="textAreaBottom"/>
              <a:pathLst>
                <a:path w="15894" h="15404">
                  <a:moveTo>
                    <a:pt x="15894" y="0"/>
                  </a:moveTo>
                  <a:cubicBezTo>
                    <a:pt x="10436" y="0"/>
                    <a:pt x="5458" y="0"/>
                    <a:pt x="0" y="0"/>
                  </a:cubicBezTo>
                  <a:cubicBezTo>
                    <a:pt x="0" y="3224"/>
                    <a:pt x="0" y="12180"/>
                    <a:pt x="0" y="15404"/>
                  </a:cubicBezTo>
                  <a:cubicBezTo>
                    <a:pt x="8120" y="7881"/>
                    <a:pt x="11575" y="5016"/>
                    <a:pt x="15894" y="0"/>
                  </a:cubicBezTo>
                  <a:close/>
                </a:path>
              </a:pathLst>
            </a:custGeom>
            <a:solidFill>
              <a:srgbClr val="ffffff"/>
            </a:solidFill>
            <a:ln w="0">
              <a:noFill/>
            </a:ln>
          </p:spPr>
          <p:style>
            <a:lnRef idx="0"/>
            <a:fillRef idx="0"/>
            <a:effectRef idx="0"/>
            <a:fontRef idx="minor"/>
          </p:style>
          <p:txBody>
            <a:bodyPr lIns="90000" rIns="90000" tIns="45000" bIns="45000" anchor="ctr">
              <a:noAutofit/>
            </a:bodyPr>
            <a:p>
              <a:pPr>
                <a:lnSpc>
                  <a:spcPct val="100000"/>
                </a:lnSpc>
              </a:pPr>
              <a:endParaRPr b="0" lang="nl-NL" sz="1800" spc="-1" strike="noStrike">
                <a:solidFill>
                  <a:srgbClr val="000000"/>
                </a:solidFill>
                <a:latin typeface="Arial"/>
              </a:endParaRPr>
            </a:p>
          </p:txBody>
        </p:sp>
      </p:grpSp>
      <p:grpSp>
        <p:nvGrpSpPr>
          <p:cNvPr id="76" name=""/>
          <p:cNvGrpSpPr/>
          <p:nvPr/>
        </p:nvGrpSpPr>
        <p:grpSpPr>
          <a:xfrm>
            <a:off x="4680000" y="0"/>
            <a:ext cx="5401800" cy="6839640"/>
            <a:chOff x="4680000" y="0"/>
            <a:chExt cx="5401800" cy="6839640"/>
          </a:xfrm>
        </p:grpSpPr>
        <p:sp>
          <p:nvSpPr>
            <p:cNvPr id="77" name=""/>
            <p:cNvSpPr/>
            <p:nvPr/>
          </p:nvSpPr>
          <p:spPr>
            <a:xfrm>
              <a:off x="4680000" y="0"/>
              <a:ext cx="3105360" cy="6839640"/>
            </a:xfrm>
            <a:custGeom>
              <a:avLst/>
              <a:gdLst>
                <a:gd name="textAreaLeft" fmla="*/ 0 w 3105360"/>
                <a:gd name="textAreaRight" fmla="*/ 3105720 w 3105360"/>
                <a:gd name="textAreaTop" fmla="*/ 0 h 6839640"/>
                <a:gd name="textAreaBottom" fmla="*/ 6840000 h 6839640"/>
              </a:gdLst>
              <a:ahLst/>
              <a:rect l="textAreaLeft" t="textAreaTop" r="textAreaRight" b="textAreaBottom"/>
              <a:pathLst>
                <a:path w="8627" h="19000">
                  <a:moveTo>
                    <a:pt x="6114" y="0"/>
                  </a:moveTo>
                  <a:cubicBezTo>
                    <a:pt x="8892" y="1629"/>
                    <a:pt x="8892" y="13029"/>
                    <a:pt x="8337" y="17603"/>
                  </a:cubicBezTo>
                  <a:cubicBezTo>
                    <a:pt x="5558" y="17914"/>
                    <a:pt x="2779" y="19000"/>
                    <a:pt x="521" y="19000"/>
                  </a:cubicBezTo>
                  <a:cubicBezTo>
                    <a:pt x="556" y="18457"/>
                    <a:pt x="556" y="9229"/>
                    <a:pt x="0" y="3912"/>
                  </a:cubicBezTo>
                  <a:cubicBezTo>
                    <a:pt x="4446" y="3257"/>
                    <a:pt x="4185" y="3353"/>
                    <a:pt x="6114" y="0"/>
                  </a:cubicBezTo>
                  <a:close/>
                </a:path>
              </a:pathLst>
            </a:custGeom>
            <a:gradFill rotWithShape="0">
              <a:gsLst>
                <a:gs pos="15000">
                  <a:srgbClr val="cccccc">
                    <a:alpha val="70000"/>
                  </a:srgbClr>
                </a:gs>
                <a:gs pos="50000">
                  <a:srgbClr val="cccccc">
                    <a:alpha val="90000"/>
                  </a:srgbClr>
                </a:gs>
                <a:gs pos="85000">
                  <a:srgbClr val="cccccc">
                    <a:alpha val="70000"/>
                  </a:srgbClr>
                </a:gs>
              </a:gsLst>
              <a:lin ang="5400000"/>
            </a:gradFill>
            <a:ln w="6480">
              <a:solidFill>
                <a:srgbClr val="ffffff"/>
              </a:solidFill>
              <a:round/>
            </a:ln>
          </p:spPr>
          <p:style>
            <a:lnRef idx="0"/>
            <a:fillRef idx="0"/>
            <a:effectRef idx="0"/>
            <a:fontRef idx="minor"/>
          </p:style>
          <p:txBody>
            <a:bodyPr lIns="84240" rIns="84240" tIns="39240" bIns="39240" anchor="ctr">
              <a:noAutofit/>
            </a:bodyPr>
            <a:p>
              <a:pPr>
                <a:lnSpc>
                  <a:spcPct val="100000"/>
                </a:lnSpc>
              </a:pPr>
              <a:endParaRPr b="0" lang="nl-NL" sz="1800" spc="-1" strike="noStrike">
                <a:solidFill>
                  <a:srgbClr val="000000"/>
                </a:solidFill>
                <a:latin typeface="Arial"/>
              </a:endParaRPr>
            </a:p>
          </p:txBody>
        </p:sp>
        <p:sp>
          <p:nvSpPr>
            <p:cNvPr id="78" name=""/>
            <p:cNvSpPr/>
            <p:nvPr/>
          </p:nvSpPr>
          <p:spPr>
            <a:xfrm>
              <a:off x="6919560" y="0"/>
              <a:ext cx="3162240" cy="6179760"/>
            </a:xfrm>
            <a:custGeom>
              <a:avLst/>
              <a:gdLst>
                <a:gd name="textAreaLeft" fmla="*/ 0 w 3162240"/>
                <a:gd name="textAreaRight" fmla="*/ 3162600 w 3162240"/>
                <a:gd name="textAreaTop" fmla="*/ 0 h 6179760"/>
                <a:gd name="textAreaBottom" fmla="*/ 6180120 h 6179760"/>
              </a:gdLst>
              <a:ahLst/>
              <a:rect l="textAreaLeft" t="textAreaTop" r="textAreaRight" b="textAreaBottom"/>
              <a:pathLst>
                <a:path w="8785" h="17167">
                  <a:moveTo>
                    <a:pt x="0" y="0"/>
                  </a:moveTo>
                  <a:cubicBezTo>
                    <a:pt x="3112" y="0"/>
                    <a:pt x="5674" y="0"/>
                    <a:pt x="8785" y="0"/>
                  </a:cubicBezTo>
                  <a:cubicBezTo>
                    <a:pt x="8785" y="3554"/>
                    <a:pt x="8785" y="13582"/>
                    <a:pt x="8785" y="17135"/>
                  </a:cubicBezTo>
                  <a:cubicBezTo>
                    <a:pt x="7118" y="17140"/>
                    <a:pt x="4339" y="17223"/>
                    <a:pt x="2116" y="17100"/>
                  </a:cubicBezTo>
                  <a:cubicBezTo>
                    <a:pt x="1560" y="6514"/>
                    <a:pt x="1560" y="8686"/>
                    <a:pt x="0" y="0"/>
                  </a:cubicBezTo>
                  <a:close/>
                </a:path>
              </a:pathLst>
            </a:custGeom>
            <a:solidFill>
              <a:srgbClr val="ffffff"/>
            </a:solidFill>
            <a:ln w="6480">
              <a:solidFill>
                <a:srgbClr val="ffffff"/>
              </a:solidFill>
              <a:round/>
            </a:ln>
          </p:spPr>
          <p:style>
            <a:lnRef idx="0"/>
            <a:fillRef idx="0"/>
            <a:effectRef idx="0"/>
            <a:fontRef idx="minor"/>
          </p:style>
          <p:txBody>
            <a:bodyPr lIns="84240" rIns="84240" tIns="39240" bIns="39240" anchor="ctr">
              <a:noAutofit/>
            </a:bodyPr>
            <a:p>
              <a:pPr>
                <a:lnSpc>
                  <a:spcPct val="100000"/>
                </a:lnSpc>
              </a:pPr>
              <a:endParaRPr b="0" lang="nl-NL" sz="1800" spc="-1" strike="noStrike">
                <a:solidFill>
                  <a:srgbClr val="000000"/>
                </a:solidFill>
                <a:latin typeface="Arial"/>
              </a:endParaRPr>
            </a:p>
          </p:txBody>
        </p:sp>
      </p:grpSp>
      <p:sp>
        <p:nvSpPr>
          <p:cNvPr id="79" name=""/>
          <p:cNvSpPr/>
          <p:nvPr/>
        </p:nvSpPr>
        <p:spPr>
          <a:xfrm>
            <a:off x="288360" y="0"/>
            <a:ext cx="9791280" cy="5759640"/>
          </a:xfrm>
          <a:prstGeom prst="rect">
            <a:avLst/>
          </a:prstGeom>
          <a:gradFill rotWithShape="0">
            <a:gsLst>
              <a:gs pos="0">
                <a:srgbClr val="eeeeee">
                  <a:alpha val="0"/>
                </a:srgbClr>
              </a:gs>
              <a:gs pos="100000">
                <a:srgbClr val="eeeeee"/>
              </a:gs>
            </a:gsLst>
            <a:path path="circle">
              <a:fillToRect l="90000" t="50000" r="10000" b="50000"/>
            </a:path>
          </a:gradFill>
          <a:ln w="0">
            <a:solidFill>
              <a:srgbClr val="ffffff"/>
            </a:solidFill>
          </a:ln>
        </p:spPr>
        <p:style>
          <a:lnRef idx="0"/>
          <a:fillRef idx="0"/>
          <a:effectRef idx="0"/>
          <a:fontRef idx="minor"/>
        </p:style>
        <p:txBody>
          <a:bodyPr lIns="90000" rIns="90000" tIns="45000" bIns="45000" anchor="ctr">
            <a:noAutofit/>
          </a:bodyPr>
          <a:p>
            <a:pPr>
              <a:lnSpc>
                <a:spcPct val="100000"/>
              </a:lnSpc>
            </a:pPr>
            <a:endParaRPr b="0" lang="nl-NL" sz="1800" spc="-1" strike="noStrike">
              <a:solidFill>
                <a:srgbClr val="000000"/>
              </a:solidFill>
              <a:latin typeface="Arial"/>
              <a:ea typeface="DejaVu Sans"/>
            </a:endParaRPr>
          </a:p>
        </p:txBody>
      </p:sp>
    </p:spTree>
  </p:cSld>
  <mc:AlternateContent>
    <mc:Choice Requires="p14">
      <p:transition spd="slow" p14:dur="3000"/>
    </mc:Choice>
    <mc:Fallback>
      <p:transition spd="slow"/>
    </mc:Fallback>
  </mc:AlternateContent>
  <p:timing>
    <p:tnLst>
      <p:par>
        <p:cTn id="221" dur="indefinite" restart="never" nodeType="tmRoot">
          <p:childTnLst>
            <p:seq>
              <p:cTn id="222" dur="indefinite" nodeType="mainSeq">
                <p:childTnLst>
                  <p:par>
                    <p:cTn id="223" fill="hold">
                      <p:stCondLst>
                        <p:cond delay="0"/>
                      </p:stCondLst>
                      <p:childTnLst>
                        <p:par>
                          <p:cTn id="224" fill="hold">
                            <p:stCondLst>
                              <p:cond delay="0"/>
                            </p:stCondLst>
                            <p:childTnLst>
                              <p:par>
                                <p:cTn id="225" nodeType="afterEffect" fill="hold" presetClass="entr" presetID="2" presetSubtype="8">
                                  <p:stCondLst>
                                    <p:cond delay="3500"/>
                                  </p:stCondLst>
                                  <p:childTnLst>
                                    <p:set>
                                      <p:cBhvr>
                                        <p:cTn id="226" dur="5" fill="hold">
                                          <p:stCondLst>
                                            <p:cond delay="0"/>
                                          </p:stCondLst>
                                        </p:cTn>
                                        <p:tgtEl>
                                          <p:spTgt spid="67"/>
                                        </p:tgtEl>
                                        <p:attrNameLst>
                                          <p:attrName>style.visibility</p:attrName>
                                        </p:attrNameLst>
                                      </p:cBhvr>
                                      <p:to>
                                        <p:strVal val="visible"/>
                                      </p:to>
                                    </p:set>
                                    <p:anim calcmode="lin" valueType="num">
                                      <p:cBhvr additive="repl">
                                        <p:cTn id="227" dur="2500" fill="hold"/>
                                        <p:tgtEl>
                                          <p:spTgt spid="67"/>
                                        </p:tgtEl>
                                        <p:attrNameLst>
                                          <p:attrName>ppt_x</p:attrName>
                                        </p:attrNameLst>
                                      </p:cBhvr>
                                      <p:tavLst>
                                        <p:tav tm="0">
                                          <p:val>
                                            <p:strVal val="0-#ppt_w/2"/>
                                          </p:val>
                                        </p:tav>
                                        <p:tav tm="100000">
                                          <p:val>
                                            <p:strVal val="#ppt_x"/>
                                          </p:val>
                                        </p:tav>
                                      </p:tavLst>
                                    </p:anim>
                                    <p:anim calcmode="lin" valueType="num">
                                      <p:cBhvr additive="repl">
                                        <p:cTn id="228" dur="2500" fill="hold"/>
                                        <p:tgtEl>
                                          <p:spTgt spid="67"/>
                                        </p:tgtEl>
                                        <p:attrNameLst>
                                          <p:attrName>ppt_y</p:attrName>
                                        </p:attrNameLst>
                                      </p:cBhvr>
                                      <p:tavLst>
                                        <p:tav tm="0">
                                          <p:val>
                                            <p:strVal val="#ppt_y"/>
                                          </p:val>
                                        </p:tav>
                                        <p:tav tm="100000">
                                          <p:val>
                                            <p:strVal val="#ppt_y"/>
                                          </p:val>
                                        </p:tav>
                                      </p:tavLst>
                                    </p:anim>
                                  </p:childTnLst>
                                </p:cTn>
                              </p:par>
                              <p:par>
                                <p:cTn id="229" nodeType="withEffect" fill="hold" presetClass="entr" presetID="2" presetSubtype="2">
                                  <p:stCondLst>
                                    <p:cond delay="4500"/>
                                  </p:stCondLst>
                                  <p:childTnLst>
                                    <p:set>
                                      <p:cBhvr>
                                        <p:cTn id="230" dur="8" fill="hold">
                                          <p:stCondLst>
                                            <p:cond delay="0"/>
                                          </p:stCondLst>
                                        </p:cTn>
                                        <p:tgtEl>
                                          <p:spTgt spid="70"/>
                                        </p:tgtEl>
                                        <p:attrNameLst>
                                          <p:attrName>style.visibility</p:attrName>
                                        </p:attrNameLst>
                                      </p:cBhvr>
                                      <p:to>
                                        <p:strVal val="visible"/>
                                      </p:to>
                                    </p:set>
                                    <p:anim calcmode="lin" valueType="num">
                                      <p:cBhvr additive="repl">
                                        <p:cTn id="231" dur="4000" fill="hold"/>
                                        <p:tgtEl>
                                          <p:spTgt spid="70"/>
                                        </p:tgtEl>
                                        <p:attrNameLst>
                                          <p:attrName>ppt_x</p:attrName>
                                        </p:attrNameLst>
                                      </p:cBhvr>
                                      <p:tavLst>
                                        <p:tav tm="0">
                                          <p:val>
                                            <p:strVal val="1+#ppt_w/2"/>
                                          </p:val>
                                        </p:tav>
                                        <p:tav tm="100000">
                                          <p:val>
                                            <p:strVal val="#ppt_x"/>
                                          </p:val>
                                        </p:tav>
                                      </p:tavLst>
                                    </p:anim>
                                    <p:anim calcmode="lin" valueType="num">
                                      <p:cBhvr additive="repl">
                                        <p:cTn id="232" dur="4000" fill="hold"/>
                                        <p:tgtEl>
                                          <p:spTgt spid="70"/>
                                        </p:tgtEl>
                                        <p:attrNameLst>
                                          <p:attrName>ppt_y</p:attrName>
                                        </p:attrNameLst>
                                      </p:cBhvr>
                                      <p:tavLst>
                                        <p:tav tm="0">
                                          <p:val>
                                            <p:strVal val="#ppt_y"/>
                                          </p:val>
                                        </p:tav>
                                        <p:tav tm="100000">
                                          <p:val>
                                            <p:strVal val="#ppt_y"/>
                                          </p:val>
                                        </p:tav>
                                      </p:tavLst>
                                    </p:anim>
                                  </p:childTnLst>
                                </p:cTn>
                              </p:par>
                            </p:childTnLst>
                          </p:cTn>
                        </p:par>
                        <p:par>
                          <p:cTn id="233" fill="hold">
                            <p:stCondLst>
                              <p:cond delay="8500"/>
                            </p:stCondLst>
                            <p:childTnLst>
                              <p:par>
                                <p:cTn id="234" nodeType="afterEffect" fill="hold" presetClass="entr" presetID="2" presetSubtype="8">
                                  <p:stCondLst>
                                    <p:cond delay="1500"/>
                                  </p:stCondLst>
                                  <p:childTnLst>
                                    <p:set>
                                      <p:cBhvr>
                                        <p:cTn id="235" dur="1" fill="hold">
                                          <p:stCondLst>
                                            <p:cond delay="0"/>
                                          </p:stCondLst>
                                        </p:cTn>
                                        <p:tgtEl>
                                          <p:spTgt spid="73"/>
                                        </p:tgtEl>
                                        <p:attrNameLst>
                                          <p:attrName>style.visibility</p:attrName>
                                        </p:attrNameLst>
                                      </p:cBhvr>
                                      <p:to>
                                        <p:strVal val="visible"/>
                                      </p:to>
                                    </p:set>
                                    <p:anim calcmode="lin" valueType="num">
                                      <p:cBhvr additive="repl">
                                        <p:cTn id="236" dur="500" fill="hold"/>
                                        <p:tgtEl>
                                          <p:spTgt spid="73"/>
                                        </p:tgtEl>
                                        <p:attrNameLst>
                                          <p:attrName>ppt_x</p:attrName>
                                        </p:attrNameLst>
                                      </p:cBhvr>
                                      <p:tavLst>
                                        <p:tav tm="0">
                                          <p:val>
                                            <p:strVal val="0-#ppt_w/2"/>
                                          </p:val>
                                        </p:tav>
                                        <p:tav tm="100000">
                                          <p:val>
                                            <p:strVal val="#ppt_x"/>
                                          </p:val>
                                        </p:tav>
                                      </p:tavLst>
                                    </p:anim>
                                    <p:anim calcmode="lin" valueType="num">
                                      <p:cBhvr additive="repl">
                                        <p:cTn id="237" dur="500" fill="hold"/>
                                        <p:tgtEl>
                                          <p:spTgt spid="73"/>
                                        </p:tgtEl>
                                        <p:attrNameLst>
                                          <p:attrName>ppt_y</p:attrName>
                                        </p:attrNameLst>
                                      </p:cBhvr>
                                      <p:tavLst>
                                        <p:tav tm="0">
                                          <p:val>
                                            <p:strVal val="#ppt_y"/>
                                          </p:val>
                                        </p:tav>
                                        <p:tav tm="100000">
                                          <p:val>
                                            <p:strVal val="#ppt_y"/>
                                          </p:val>
                                        </p:tav>
                                      </p:tavLst>
                                    </p:anim>
                                  </p:childTnLst>
                                </p:cTn>
                              </p:par>
                              <p:par>
                                <p:cTn id="238" nodeType="withEffect" fill="hold" presetClass="entr" presetID="2" presetSubtype="2">
                                  <p:stCondLst>
                                    <p:cond delay="2000"/>
                                  </p:stCondLst>
                                  <p:childTnLst>
                                    <p:set>
                                      <p:cBhvr>
                                        <p:cTn id="239" dur="1" fill="hold">
                                          <p:stCondLst>
                                            <p:cond delay="0"/>
                                          </p:stCondLst>
                                        </p:cTn>
                                        <p:tgtEl>
                                          <p:spTgt spid="76"/>
                                        </p:tgtEl>
                                        <p:attrNameLst>
                                          <p:attrName>style.visibility</p:attrName>
                                        </p:attrNameLst>
                                      </p:cBhvr>
                                      <p:to>
                                        <p:strVal val="visible"/>
                                      </p:to>
                                    </p:set>
                                    <p:anim calcmode="lin" valueType="num">
                                      <p:cBhvr additive="repl">
                                        <p:cTn id="240" dur="500" fill="hold"/>
                                        <p:tgtEl>
                                          <p:spTgt spid="76"/>
                                        </p:tgtEl>
                                        <p:attrNameLst>
                                          <p:attrName>ppt_x</p:attrName>
                                        </p:attrNameLst>
                                      </p:cBhvr>
                                      <p:tavLst>
                                        <p:tav tm="0">
                                          <p:val>
                                            <p:strVal val="1+#ppt_w/2"/>
                                          </p:val>
                                        </p:tav>
                                        <p:tav tm="100000">
                                          <p:val>
                                            <p:strVal val="#ppt_x"/>
                                          </p:val>
                                        </p:tav>
                                      </p:tavLst>
                                    </p:anim>
                                    <p:anim calcmode="lin" valueType="num">
                                      <p:cBhvr additive="repl">
                                        <p:cTn id="241" dur="500" fill="hold"/>
                                        <p:tgtEl>
                                          <p:spTgt spid="76"/>
                                        </p:tgtEl>
                                        <p:attrNameLst>
                                          <p:attrName>ppt_y</p:attrName>
                                        </p:attrNameLst>
                                      </p:cBhvr>
                                      <p:tavLst>
                                        <p:tav tm="0">
                                          <p:val>
                                            <p:strVal val="#ppt_y"/>
                                          </p:val>
                                        </p:tav>
                                        <p:tav tm="100000">
                                          <p:val>
                                            <p:strVal val="#ppt_y"/>
                                          </p:val>
                                        </p:tav>
                                      </p:tavLst>
                                    </p:anim>
                                  </p:childTnLst>
                                </p:cTn>
                              </p:par>
                            </p:childTnLst>
                          </p:cTn>
                        </p:par>
                        <p:par>
                          <p:cTn id="242" fill="hold">
                            <p:stCondLst>
                              <p:cond delay="11000"/>
                            </p:stCondLst>
                            <p:childTnLst>
                              <p:par>
                                <p:cTn id="243" nodeType="afterEffect" fill="hold" presetClass="entr" presetID="1">
                                  <p:stCondLst>
                                    <p:cond delay="10000"/>
                                  </p:stCondLst>
                                  <p:childTnLst>
                                    <p:set>
                                      <p:cBhvr>
                                        <p:cTn id="244"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540000" y="186480"/>
            <a:ext cx="9071280" cy="1023840"/>
          </a:xfrm>
          <a:prstGeom prst="rect">
            <a:avLst/>
          </a:prstGeom>
          <a:noFill/>
          <a:ln w="0">
            <a:noFill/>
          </a:ln>
        </p:spPr>
        <p:txBody>
          <a:bodyPr lIns="0" rIns="0" tIns="0" bIns="0" anchor="ctr">
            <a:noAutofit/>
          </a:bodyPr>
          <a:p>
            <a:pPr indent="0" algn="ctr">
              <a:lnSpc>
                <a:spcPct val="100000"/>
              </a:lnSpc>
              <a:buNone/>
              <a:tabLst>
                <a:tab algn="l" pos="0"/>
              </a:tabLst>
            </a:pPr>
            <a:r>
              <a:rPr b="1" lang="nl-NL" sz="3600" spc="-1" strike="noStrike">
                <a:solidFill>
                  <a:srgbClr val="3465a4"/>
                </a:solidFill>
                <a:latin typeface="Arial"/>
              </a:rPr>
              <a:t>luchtkwaliteitsmetingen en</a:t>
            </a:r>
            <a:br>
              <a:rPr sz="3600"/>
            </a:br>
            <a:r>
              <a:rPr b="1" lang="nl-NL" sz="3600" spc="-1" strike="noStrike">
                <a:solidFill>
                  <a:srgbClr val="3465a4"/>
                </a:solidFill>
                <a:latin typeface="Arial"/>
              </a:rPr>
              <a:t>doelgerichtheid</a:t>
            </a:r>
            <a:endParaRPr b="0" lang="en-GB" sz="3600" spc="-1" strike="noStrike">
              <a:solidFill>
                <a:srgbClr val="000000"/>
              </a:solidFill>
              <a:latin typeface="Arial"/>
            </a:endParaRPr>
          </a:p>
        </p:txBody>
      </p:sp>
      <p:sp>
        <p:nvSpPr>
          <p:cNvPr id="81" name="PlaceHolder 2"/>
          <p:cNvSpPr>
            <a:spLocks noGrp="1"/>
          </p:cNvSpPr>
          <p:nvPr>
            <p:ph/>
          </p:nvPr>
        </p:nvSpPr>
        <p:spPr>
          <a:xfrm>
            <a:off x="648360" y="1620000"/>
            <a:ext cx="9071280" cy="3599640"/>
          </a:xfrm>
          <a:prstGeom prst="rect">
            <a:avLst/>
          </a:prstGeom>
          <a:noFill/>
          <a:ln w="0">
            <a:noFill/>
          </a:ln>
        </p:spPr>
        <p:txBody>
          <a:bodyPr lIns="0" rIns="0" tIns="0" bIns="0" anchor="t">
            <a:normAutofit/>
          </a:bodyPr>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meten zonder duidelijk doel</a:t>
            </a:r>
            <a:endParaRPr b="0" lang="en-GB" sz="32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meten met tegengestelde en uiteenlopende doelen</a:t>
            </a:r>
            <a:endParaRPr b="0" lang="en-GB" sz="32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weinig of geen koppeling met lokaal beleid</a:t>
            </a:r>
            <a:endParaRPr b="0" lang="en-GB" sz="3200" spc="-1" strike="noStrike">
              <a:solidFill>
                <a:srgbClr val="000000"/>
              </a:solidFill>
              <a:latin typeface="Arial"/>
            </a:endParaRPr>
          </a:p>
          <a:p>
            <a:pPr marL="432000" indent="0">
              <a:lnSpc>
                <a:spcPct val="100000"/>
              </a:lnSpc>
              <a:spcBef>
                <a:spcPts val="1417"/>
              </a:spcBef>
              <a:buNone/>
              <a:tabLst>
                <a:tab algn="l" pos="0"/>
              </a:tabLst>
            </a:pPr>
            <a:r>
              <a:rPr b="0" lang="nl-NL" sz="3200" spc="-1" strike="noStrike">
                <a:solidFill>
                  <a:srgbClr val="3465a4"/>
                </a:solidFill>
                <a:latin typeface="Arial"/>
              </a:rPr>
              <a:t>            </a:t>
            </a:r>
            <a:r>
              <a:rPr b="0" lang="nl-NL" sz="3200" spc="-1" strike="noStrike">
                <a:solidFill>
                  <a:srgbClr val="3465a4"/>
                </a:solidFill>
                <a:latin typeface="Arial"/>
              </a:rPr>
              <a:t>gevolg: </a:t>
            </a:r>
            <a:r>
              <a:rPr b="1" lang="nl-NL" sz="3200" spc="-1" strike="noStrike">
                <a:solidFill>
                  <a:srgbClr val="3465a4"/>
                </a:solidFill>
                <a:latin typeface="Arial"/>
              </a:rPr>
              <a:t>demotivatie</a:t>
            </a:r>
            <a:endParaRPr b="0" lang="en-GB" sz="3200" spc="-1" strike="noStrike">
              <a:solidFill>
                <a:srgbClr val="000000"/>
              </a:solidFill>
              <a:latin typeface="Arial"/>
            </a:endParaRPr>
          </a:p>
        </p:txBody>
      </p:sp>
    </p:spTree>
  </p:cSld>
  <mc:AlternateContent>
    <mc:Choice Requires="p14">
      <p:transition spd="slow" p14:dur="3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lgn="ctr">
              <a:lnSpc>
                <a:spcPct val="100000"/>
              </a:lnSpc>
              <a:buNone/>
              <a:tabLst>
                <a:tab algn="l" pos="0"/>
              </a:tabLst>
            </a:pPr>
            <a:r>
              <a:rPr b="1" lang="nl-NL" sz="4400" spc="-1" strike="noStrike">
                <a:solidFill>
                  <a:srgbClr val="3465a4"/>
                </a:solidFill>
                <a:latin typeface="Arial"/>
              </a:rPr>
              <a:t>de structurele problemen</a:t>
            </a:r>
            <a:endParaRPr b="0" lang="en-GB" sz="4400" spc="-1" strike="noStrike">
              <a:solidFill>
                <a:srgbClr val="000000"/>
              </a:solidFill>
              <a:latin typeface="Arial"/>
            </a:endParaRPr>
          </a:p>
        </p:txBody>
      </p:sp>
      <p:sp>
        <p:nvSpPr>
          <p:cNvPr id="83" name="PlaceHolder 2"/>
          <p:cNvSpPr>
            <a:spLocks noGrp="1"/>
          </p:cNvSpPr>
          <p:nvPr>
            <p:ph/>
          </p:nvPr>
        </p:nvSpPr>
        <p:spPr>
          <a:xfrm>
            <a:off x="648360" y="1620000"/>
            <a:ext cx="9071280" cy="3599640"/>
          </a:xfrm>
          <a:prstGeom prst="rect">
            <a:avLst/>
          </a:prstGeom>
          <a:noFill/>
          <a:ln w="0">
            <a:noFill/>
          </a:ln>
        </p:spPr>
        <p:txBody>
          <a:bodyPr lIns="0" rIns="0" tIns="0" bIns="0" anchor="t">
            <a:normAutofit fontScale="96666"/>
          </a:bodyPr>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institutionele onduidelijkheid</a:t>
            </a:r>
            <a:endParaRPr b="0" lang="en-GB" sz="32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weinig of geen transparantie</a:t>
            </a:r>
            <a:endParaRPr b="0" lang="en-GB" sz="32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zwakke (nauwelijks gestandaardiseerde) data infrastructuur</a:t>
            </a:r>
            <a:endParaRPr b="0" lang="en-GB" sz="32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zwakke kennisinfrastructuur</a:t>
            </a:r>
            <a:endParaRPr b="0" lang="en-GB" sz="32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mismatch van verwachtingen</a:t>
            </a:r>
            <a:endParaRPr b="0" lang="en-GB" sz="3200" spc="-1" strike="noStrike">
              <a:solidFill>
                <a:srgbClr val="000000"/>
              </a:solidFill>
              <a:latin typeface="Arial"/>
            </a:endParaRPr>
          </a:p>
        </p:txBody>
      </p:sp>
    </p:spTree>
  </p:cSld>
  <mc:AlternateContent>
    <mc:Choice Requires="p14">
      <p:transition spd="slow" p14:dur="3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40000" y="226080"/>
            <a:ext cx="9071280" cy="946080"/>
          </a:xfrm>
          <a:prstGeom prst="rect">
            <a:avLst/>
          </a:prstGeom>
          <a:noFill/>
          <a:ln w="0">
            <a:noFill/>
          </a:ln>
        </p:spPr>
        <p:txBody>
          <a:bodyPr lIns="0" rIns="0" tIns="0" bIns="0" anchor="ctr">
            <a:noAutofit/>
          </a:bodyPr>
          <a:p>
            <a:pPr indent="0" algn="ctr">
              <a:lnSpc>
                <a:spcPct val="100000"/>
              </a:lnSpc>
              <a:buNone/>
              <a:tabLst>
                <a:tab algn="l" pos="0"/>
              </a:tabLst>
            </a:pPr>
            <a:r>
              <a:rPr b="1" lang="nl-NL" sz="4400" spc="-1" strike="noStrike">
                <a:solidFill>
                  <a:srgbClr val="3465a4"/>
                </a:solidFill>
                <a:latin typeface="Arial"/>
              </a:rPr>
              <a:t>conclusie</a:t>
            </a:r>
            <a:endParaRPr b="0" lang="en-GB" sz="4400" spc="-1" strike="noStrike">
              <a:solidFill>
                <a:srgbClr val="000000"/>
              </a:solidFill>
              <a:latin typeface="Arial"/>
            </a:endParaRPr>
          </a:p>
        </p:txBody>
      </p:sp>
      <p:sp>
        <p:nvSpPr>
          <p:cNvPr id="85" name="PlaceHolder 2"/>
          <p:cNvSpPr>
            <a:spLocks noGrp="1"/>
          </p:cNvSpPr>
          <p:nvPr>
            <p:ph/>
          </p:nvPr>
        </p:nvSpPr>
        <p:spPr>
          <a:xfrm>
            <a:off x="648360" y="1620000"/>
            <a:ext cx="9071280" cy="3599640"/>
          </a:xfrm>
          <a:prstGeom prst="rect">
            <a:avLst/>
          </a:prstGeom>
          <a:noFill/>
          <a:ln w="0">
            <a:noFill/>
          </a:ln>
        </p:spPr>
        <p:txBody>
          <a:bodyPr lIns="0" rIns="0" tIns="0" bIns="0" anchor="t">
            <a:normAutofit fontScale="98888" lnSpcReduction="10000"/>
          </a:bodyPr>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technologie (in ontwikkeling) is niet het probleem</a:t>
            </a:r>
            <a:endParaRPr b="0" lang="en-GB" sz="32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organisatie is het probleem: structuur, institutionalisering, en inbedding</a:t>
            </a:r>
            <a:endParaRPr b="0" lang="en-GB" sz="32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focus op samenwerking, governance en waardering</a:t>
            </a:r>
            <a:endParaRPr b="0" lang="en-GB" sz="3200" spc="-1" strike="noStrike">
              <a:solidFill>
                <a:srgbClr val="000000"/>
              </a:solidFill>
              <a:latin typeface="Arial"/>
            </a:endParaRPr>
          </a:p>
          <a:p>
            <a:pPr marL="432000" indent="-324000">
              <a:lnSpc>
                <a:spcPct val="100000"/>
              </a:lnSpc>
              <a:spcBef>
                <a:spcPts val="1417"/>
              </a:spcBef>
              <a:buClr>
                <a:srgbClr val="3465a4"/>
              </a:buClr>
              <a:buSzPct val="45000"/>
              <a:buFont typeface="Wingdings" charset="2"/>
              <a:buChar char=""/>
            </a:pPr>
            <a:r>
              <a:rPr b="0" lang="nl-NL" sz="3200" spc="-1" strike="noStrike">
                <a:solidFill>
                  <a:srgbClr val="3465a4"/>
                </a:solidFill>
                <a:latin typeface="Arial"/>
              </a:rPr>
              <a:t>burgerwetenschap is volwassen</a:t>
            </a:r>
            <a:endParaRPr b="0" lang="en-GB" sz="3200" spc="-1" strike="noStrike">
              <a:solidFill>
                <a:srgbClr val="000000"/>
              </a:solidFill>
              <a:latin typeface="Arial"/>
            </a:endParaRPr>
          </a:p>
        </p:txBody>
      </p:sp>
    </p:spTree>
  </p:cSld>
  <mc:AlternateContent>
    <mc:Choice Requires="p14">
      <p:transition spd="slow" p14:dur="3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503640" y="102240"/>
            <a:ext cx="9396000" cy="1191960"/>
          </a:xfrm>
          <a:prstGeom prst="rect">
            <a:avLst/>
          </a:prstGeom>
          <a:noFill/>
          <a:ln w="0">
            <a:noFill/>
          </a:ln>
        </p:spPr>
        <p:txBody>
          <a:bodyPr lIns="0" rIns="0" tIns="0" bIns="0" anchor="ctr">
            <a:noAutofit/>
          </a:bodyPr>
          <a:p>
            <a:pPr indent="0">
              <a:lnSpc>
                <a:spcPct val="100000"/>
              </a:lnSpc>
              <a:buNone/>
              <a:tabLst>
                <a:tab algn="l" pos="0"/>
              </a:tabLst>
            </a:pPr>
            <a:r>
              <a:rPr b="1" lang="nl-NL" sz="4000" spc="-1" strike="noStrike">
                <a:solidFill>
                  <a:srgbClr val="11568c"/>
                </a:solidFill>
                <a:latin typeface="Arial"/>
              </a:rPr>
              <a:t>leesvoer SLA Brandbrief</a:t>
            </a:r>
            <a:br>
              <a:rPr sz="4000"/>
            </a:br>
            <a:r>
              <a:rPr b="0" lang="nl-NL" sz="2600" spc="-1" strike="noStrike">
                <a:solidFill>
                  <a:srgbClr val="3465a4"/>
                </a:solidFill>
                <a:latin typeface="Arial"/>
              </a:rPr>
              <a:t>de vele details, een selectie            </a:t>
            </a:r>
            <a:r>
              <a:rPr b="0" lang="nl-NL" sz="1800" spc="-1" strike="noStrike">
                <a:solidFill>
                  <a:srgbClr val="3465a4"/>
                </a:solidFill>
                <a:latin typeface="Arial"/>
              </a:rPr>
              <a:t>(o.a. https://github.com/teusH/MySense/)</a:t>
            </a:r>
            <a:endParaRPr b="0" lang="en-GB" sz="1800" spc="-1" strike="noStrike">
              <a:solidFill>
                <a:srgbClr val="000000"/>
              </a:solidFill>
              <a:latin typeface="Arial"/>
            </a:endParaRPr>
          </a:p>
        </p:txBody>
      </p:sp>
      <p:sp>
        <p:nvSpPr>
          <p:cNvPr id="87" name="PlaceHolder 2"/>
          <p:cNvSpPr>
            <a:spLocks noGrp="1"/>
          </p:cNvSpPr>
          <p:nvPr>
            <p:ph/>
          </p:nvPr>
        </p:nvSpPr>
        <p:spPr>
          <a:xfrm>
            <a:off x="503640" y="1692000"/>
            <a:ext cx="9070200" cy="3634920"/>
          </a:xfrm>
          <a:prstGeom prst="rect">
            <a:avLst/>
          </a:prstGeom>
          <a:noFill/>
          <a:ln w="0">
            <a:noFill/>
          </a:ln>
        </p:spPr>
        <p:txBody>
          <a:bodyPr lIns="0" rIns="0" tIns="0" bIns="0" anchor="t">
            <a:normAutofit fontScale="68333" lnSpcReduction="10000"/>
          </a:bodyPr>
          <a:p>
            <a:pPr marL="432000" indent="-324000">
              <a:lnSpc>
                <a:spcPct val="100000"/>
              </a:lnSpc>
              <a:spcBef>
                <a:spcPts val="850"/>
              </a:spcBef>
              <a:buClr>
                <a:srgbClr val="3465a4"/>
              </a:buClr>
              <a:buSzPct val="45000"/>
              <a:buFont typeface="Wingdings" charset="2"/>
              <a:buChar char=""/>
            </a:pPr>
            <a:r>
              <a:rPr b="0" lang="nl-NL" sz="2200" spc="-1" strike="noStrike" u="sng">
                <a:solidFill>
                  <a:srgbClr val="0000ee"/>
                </a:solidFill>
                <a:uFillTx/>
                <a:latin typeface="Arial"/>
                <a:hlinkClick r:id="rId1"/>
              </a:rPr>
              <a:t>SLA Brandbrief</a:t>
            </a:r>
            <a:r>
              <a:rPr b="0" lang="nl-NL" sz="2200" spc="-1" strike="noStrike">
                <a:solidFill>
                  <a:srgbClr val="3465a4"/>
                </a:solidFill>
                <a:latin typeface="Arial"/>
              </a:rPr>
              <a:t> (open brief aan I&amp;W, pdf, SLA Participatiedag 5 nov 2025)</a:t>
            </a:r>
            <a:endParaRPr b="0" lang="en-GB" sz="2200" spc="-1" strike="noStrike">
              <a:solidFill>
                <a:srgbClr val="000000"/>
              </a:solidFill>
              <a:latin typeface="Arial"/>
            </a:endParaRPr>
          </a:p>
          <a:p>
            <a:pPr marL="432000" indent="-324000">
              <a:lnSpc>
                <a:spcPct val="100000"/>
              </a:lnSpc>
              <a:spcBef>
                <a:spcPts val="850"/>
              </a:spcBef>
              <a:buClr>
                <a:srgbClr val="3465a4"/>
              </a:buClr>
              <a:buSzPct val="45000"/>
              <a:buFont typeface="Wingdings" charset="2"/>
              <a:buChar char=""/>
            </a:pPr>
            <a:r>
              <a:rPr b="0" lang="nl-NL" sz="2200" spc="-1" strike="noStrike" u="sng">
                <a:solidFill>
                  <a:srgbClr val="0000ee"/>
                </a:solidFill>
                <a:uFillTx/>
                <a:latin typeface="Arial"/>
                <a:hlinkClick r:id="rId2"/>
              </a:rPr>
              <a:t>De digitale kloof overbruggen</a:t>
            </a:r>
            <a:r>
              <a:rPr b="0" lang="nl-NL" sz="2200" spc="-1" strike="noStrike">
                <a:solidFill>
                  <a:srgbClr val="3465a4"/>
                </a:solidFill>
                <a:latin typeface="Arial"/>
              </a:rPr>
              <a:t> (onderzoeksrapport Waag Futurelab, pdf, maart 2026) </a:t>
            </a:r>
            <a:endParaRPr b="0" lang="en-GB" sz="2200" spc="-1" strike="noStrike">
              <a:solidFill>
                <a:srgbClr val="000000"/>
              </a:solidFill>
              <a:latin typeface="Arial"/>
            </a:endParaRPr>
          </a:p>
          <a:p>
            <a:pPr marL="432000" indent="-324000">
              <a:lnSpc>
                <a:spcPct val="100000"/>
              </a:lnSpc>
              <a:spcBef>
                <a:spcPts val="850"/>
              </a:spcBef>
              <a:buClr>
                <a:srgbClr val="3465a4"/>
              </a:buClr>
              <a:buSzPct val="45000"/>
              <a:buFont typeface="Wingdings" charset="2"/>
              <a:buChar char=""/>
            </a:pPr>
            <a:r>
              <a:rPr b="0" lang="nl-NL" sz="2200" spc="-1" strike="noStrike" u="sng">
                <a:solidFill>
                  <a:srgbClr val="0000ee"/>
                </a:solidFill>
                <a:uFillTx/>
                <a:latin typeface="Arial"/>
                <a:hlinkClick r:id="rId3"/>
              </a:rPr>
              <a:t>Lokale Verbindingen</a:t>
            </a:r>
            <a:r>
              <a:rPr b="0" lang="nl-NL" sz="2200" spc="-1" strike="noStrike">
                <a:solidFill>
                  <a:srgbClr val="3465a4"/>
                </a:solidFill>
                <a:latin typeface="Arial"/>
              </a:rPr>
              <a:t> (gids voor ambtenaren, Waag Futurelab, pdf, maart 2026)</a:t>
            </a:r>
            <a:endParaRPr b="0" lang="en-GB" sz="2200" spc="-1" strike="noStrike">
              <a:solidFill>
                <a:srgbClr val="000000"/>
              </a:solidFill>
              <a:latin typeface="Arial"/>
            </a:endParaRPr>
          </a:p>
          <a:p>
            <a:pPr marL="432000" indent="-324000">
              <a:lnSpc>
                <a:spcPct val="100000"/>
              </a:lnSpc>
              <a:spcBef>
                <a:spcPts val="850"/>
              </a:spcBef>
              <a:buClr>
                <a:srgbClr val="3465a4"/>
              </a:buClr>
              <a:buSzPct val="45000"/>
              <a:buFont typeface="Wingdings" charset="2"/>
              <a:buChar char=""/>
            </a:pPr>
            <a:r>
              <a:rPr b="0" lang="nl-NL" sz="2200" spc="-1" strike="noStrike" u="sng">
                <a:solidFill>
                  <a:srgbClr val="0000ee"/>
                </a:solidFill>
                <a:uFillTx/>
                <a:latin typeface="Arial"/>
                <a:hlinkClick r:id="rId4"/>
              </a:rPr>
              <a:t>SLA Participatie clarificatie document</a:t>
            </a:r>
            <a:r>
              <a:rPr b="0" lang="nl-NL" sz="2200" spc="-1" strike="noStrike">
                <a:solidFill>
                  <a:srgbClr val="3465a4"/>
                </a:solidFill>
                <a:latin typeface="Arial"/>
              </a:rPr>
              <a:t> (achtergronds info, pdf, april 2026)</a:t>
            </a:r>
            <a:endParaRPr b="0" lang="en-GB" sz="2200" spc="-1" strike="noStrike">
              <a:solidFill>
                <a:srgbClr val="000000"/>
              </a:solidFill>
              <a:latin typeface="Arial"/>
            </a:endParaRPr>
          </a:p>
          <a:p>
            <a:pPr marL="432000" indent="-324000">
              <a:lnSpc>
                <a:spcPct val="100000"/>
              </a:lnSpc>
              <a:spcBef>
                <a:spcPts val="850"/>
              </a:spcBef>
              <a:buClr>
                <a:srgbClr val="3465a4"/>
              </a:buClr>
              <a:buSzPct val="45000"/>
              <a:buFont typeface="Wingdings" charset="2"/>
              <a:buChar char=""/>
            </a:pPr>
            <a:r>
              <a:rPr b="0" lang="nl-NL" sz="2200" spc="-1" strike="noStrike" u="sng">
                <a:solidFill>
                  <a:srgbClr val="0000ee"/>
                </a:solidFill>
                <a:uFillTx/>
                <a:latin typeface="Arial"/>
                <a:hlinkClick r:id="rId5"/>
              </a:rPr>
              <a:t>Overzicht 15 gemeentes meetlokaties 2019-2025</a:t>
            </a:r>
            <a:r>
              <a:rPr b="0" lang="nl-NL" sz="2200" spc="-1" strike="noStrike">
                <a:solidFill>
                  <a:srgbClr val="3465a4"/>
                </a:solidFill>
                <a:latin typeface="Arial"/>
              </a:rPr>
              <a:t> Noord- en Zuid-Holland, Brabant, Limburg  (pdf, april 2026)</a:t>
            </a:r>
            <a:endParaRPr b="0" lang="en-GB" sz="2200" spc="-1" strike="noStrike">
              <a:solidFill>
                <a:srgbClr val="000000"/>
              </a:solidFill>
              <a:latin typeface="Arial"/>
            </a:endParaRPr>
          </a:p>
          <a:p>
            <a:pPr marL="432000" indent="-324000">
              <a:lnSpc>
                <a:spcPct val="100000"/>
              </a:lnSpc>
              <a:spcBef>
                <a:spcPts val="850"/>
              </a:spcBef>
              <a:buClr>
                <a:srgbClr val="3465a4"/>
              </a:buClr>
              <a:buSzPct val="45000"/>
              <a:buFont typeface="Wingdings" charset="2"/>
              <a:buChar char=""/>
            </a:pPr>
            <a:r>
              <a:rPr b="0" lang="nl-NL" sz="2200" spc="-1" strike="noStrike" u="sng">
                <a:solidFill>
                  <a:srgbClr val="0000ee"/>
                </a:solidFill>
                <a:uFillTx/>
                <a:latin typeface="Arial"/>
                <a:hlinkClick r:id="rId6"/>
              </a:rPr>
              <a:t>Onderzoek 15 gemeentelijke  meetlocaties en sensoren 2019-2025</a:t>
            </a:r>
            <a:r>
              <a:rPr b="0" lang="nl-NL" sz="2200" spc="-1" strike="noStrike">
                <a:solidFill>
                  <a:srgbClr val="3465a4"/>
                </a:solidFill>
                <a:latin typeface="Arial"/>
              </a:rPr>
              <a:t> (ODS spreadsheet, maart 2026)</a:t>
            </a:r>
            <a:endParaRPr b="0" lang="en-GB" sz="2200" spc="-1" strike="noStrike">
              <a:solidFill>
                <a:srgbClr val="000000"/>
              </a:solidFill>
              <a:latin typeface="Arial"/>
            </a:endParaRPr>
          </a:p>
          <a:p>
            <a:pPr marL="432000" indent="-324000">
              <a:lnSpc>
                <a:spcPct val="100000"/>
              </a:lnSpc>
              <a:spcBef>
                <a:spcPts val="850"/>
              </a:spcBef>
              <a:buClr>
                <a:srgbClr val="3465a4"/>
              </a:buClr>
              <a:buSzPct val="45000"/>
              <a:buFont typeface="Wingdings" charset="2"/>
              <a:buChar char=""/>
            </a:pPr>
            <a:r>
              <a:rPr b="0" lang="nl-NL" sz="2200" spc="-1" strike="noStrike">
                <a:solidFill>
                  <a:srgbClr val="3465a4"/>
                </a:solidFill>
                <a:latin typeface="Arial"/>
              </a:rPr>
              <a:t>Cases en navelstaren:</a:t>
            </a:r>
            <a:endParaRPr b="0" lang="en-GB" sz="2200" spc="-1" strike="noStrike">
              <a:solidFill>
                <a:srgbClr val="000000"/>
              </a:solidFill>
              <a:latin typeface="Arial"/>
            </a:endParaRPr>
          </a:p>
          <a:p>
            <a:pPr lvl="1" marL="864000" indent="-324000">
              <a:lnSpc>
                <a:spcPct val="100000"/>
              </a:lnSpc>
              <a:spcBef>
                <a:spcPts val="567"/>
              </a:spcBef>
              <a:buClr>
                <a:srgbClr val="3465a4"/>
              </a:buClr>
              <a:buSzPct val="75000"/>
              <a:buFont typeface="Symbol" charset="2"/>
              <a:buChar char=""/>
            </a:pPr>
            <a:r>
              <a:rPr b="0" lang="nl-NL" sz="2200" spc="-1" strike="noStrike" u="sng">
                <a:solidFill>
                  <a:srgbClr val="0000ee"/>
                </a:solidFill>
                <a:uFillTx/>
                <a:latin typeface="Arial"/>
                <a:hlinkClick r:id="rId7"/>
              </a:rPr>
              <a:t>Casus Leidschendam-Voorburg</a:t>
            </a:r>
            <a:r>
              <a:rPr b="0" lang="nl-NL" sz="2200" spc="-1" strike="noStrike">
                <a:solidFill>
                  <a:srgbClr val="3465a4"/>
                </a:solidFill>
                <a:latin typeface="Arial"/>
              </a:rPr>
              <a:t> (Zuid Holland, pdf, febr 2026)</a:t>
            </a:r>
            <a:endParaRPr b="0" lang="en-GB" sz="2200" spc="-1" strike="noStrike">
              <a:solidFill>
                <a:srgbClr val="000000"/>
              </a:solidFill>
              <a:latin typeface="Arial"/>
            </a:endParaRPr>
          </a:p>
          <a:p>
            <a:pPr lvl="1" marL="864000" indent="-324000">
              <a:lnSpc>
                <a:spcPct val="100000"/>
              </a:lnSpc>
              <a:spcBef>
                <a:spcPts val="567"/>
              </a:spcBef>
              <a:buClr>
                <a:srgbClr val="3465a4"/>
              </a:buClr>
              <a:buSzPct val="75000"/>
              <a:buFont typeface="Symbol" charset="2"/>
              <a:buChar char=""/>
            </a:pPr>
            <a:r>
              <a:rPr b="0" lang="nl-NL" sz="2200" spc="-1" strike="noStrike" u="sng">
                <a:solidFill>
                  <a:srgbClr val="0000ee"/>
                </a:solidFill>
                <a:uFillTx/>
                <a:latin typeface="Arial"/>
                <a:hlinkClick r:id="rId8"/>
              </a:rPr>
              <a:t>Casus Horst ad Maas</a:t>
            </a:r>
            <a:r>
              <a:rPr b="0" lang="nl-NL" sz="2200" spc="-1" strike="noStrike">
                <a:solidFill>
                  <a:srgbClr val="3465a4"/>
                </a:solidFill>
                <a:latin typeface="Arial"/>
              </a:rPr>
              <a:t> (Noord Limburg, pdf, maart 2026)</a:t>
            </a:r>
            <a:endParaRPr b="0" lang="en-GB" sz="2200" spc="-1" strike="noStrike">
              <a:solidFill>
                <a:srgbClr val="000000"/>
              </a:solidFill>
              <a:latin typeface="Arial"/>
            </a:endParaRPr>
          </a:p>
          <a:p>
            <a:pPr lvl="1" marL="864000" indent="-324000">
              <a:lnSpc>
                <a:spcPct val="100000"/>
              </a:lnSpc>
              <a:spcBef>
                <a:spcPts val="567"/>
              </a:spcBef>
              <a:buClr>
                <a:srgbClr val="3465a4"/>
              </a:buClr>
              <a:buSzPct val="75000"/>
              <a:buFont typeface="Symbol" charset="2"/>
              <a:buChar char=""/>
            </a:pPr>
            <a:r>
              <a:rPr b="0" lang="nl-NL" sz="2200" spc="-1" strike="noStrike" u="sng">
                <a:solidFill>
                  <a:srgbClr val="0000ee"/>
                </a:solidFill>
                <a:uFillTx/>
                <a:latin typeface="Arial"/>
                <a:hlinkClick r:id="rId9"/>
              </a:rPr>
              <a:t>Casus Land van Cuijk</a:t>
            </a:r>
            <a:r>
              <a:rPr b="0" lang="nl-NL" sz="2200" spc="-1" strike="noStrike">
                <a:solidFill>
                  <a:srgbClr val="3465a4"/>
                </a:solidFill>
                <a:latin typeface="Arial"/>
              </a:rPr>
              <a:t> (Zuid-Oost Brabant, pdf, maart 2026)</a:t>
            </a:r>
            <a:endParaRPr b="0" lang="en-GB" sz="2200" spc="-1" strike="noStrike">
              <a:solidFill>
                <a:srgbClr val="000000"/>
              </a:solidFill>
              <a:latin typeface="Arial"/>
            </a:endParaRPr>
          </a:p>
          <a:p>
            <a:pPr lvl="1" marL="864000" indent="-324000">
              <a:lnSpc>
                <a:spcPct val="100000"/>
              </a:lnSpc>
              <a:spcBef>
                <a:spcPts val="567"/>
              </a:spcBef>
              <a:buClr>
                <a:srgbClr val="3465a4"/>
              </a:buClr>
              <a:buSzPct val="75000"/>
              <a:buFont typeface="Symbol" charset="2"/>
              <a:buChar char=""/>
            </a:pPr>
            <a:r>
              <a:rPr b="0" lang="nl-NL" sz="2200" spc="-1" strike="noStrike" u="sng">
                <a:solidFill>
                  <a:srgbClr val="0000ee"/>
                </a:solidFill>
                <a:uFillTx/>
                <a:latin typeface="Arial"/>
                <a:hlinkClick r:id="rId10"/>
              </a:rPr>
              <a:t>Casus Scapeler</a:t>
            </a:r>
            <a:r>
              <a:rPr b="0" lang="nl-NL" sz="2200" spc="-1" strike="noStrike">
                <a:solidFill>
                  <a:srgbClr val="3465a4"/>
                </a:solidFill>
                <a:latin typeface="Arial"/>
              </a:rPr>
              <a:t> (Houtstook metingen, pdf, april 2026)</a:t>
            </a:r>
            <a:endParaRPr b="0" lang="en-GB" sz="2200" spc="-1" strike="noStrike">
              <a:solidFill>
                <a:srgbClr val="000000"/>
              </a:solidFill>
              <a:latin typeface="Arial"/>
            </a:endParaRPr>
          </a:p>
          <a:p>
            <a:pPr marL="432000" indent="-324000">
              <a:lnSpc>
                <a:spcPct val="100000"/>
              </a:lnSpc>
              <a:spcBef>
                <a:spcPts val="850"/>
              </a:spcBef>
              <a:buClr>
                <a:srgbClr val="3465a4"/>
              </a:buClr>
              <a:buSzPct val="45000"/>
              <a:buFont typeface="Wingdings" charset="2"/>
              <a:buChar char=""/>
            </a:pPr>
            <a:r>
              <a:rPr b="0" lang="nl-NL" sz="2200" spc="-1" strike="noStrike" u="sng">
                <a:solidFill>
                  <a:srgbClr val="0000ee"/>
                </a:solidFill>
                <a:uFillTx/>
                <a:latin typeface="Arial"/>
                <a:hlinkClick r:id="rId11"/>
              </a:rPr>
              <a:t>Citizen Science: Citizen Sensing</a:t>
            </a:r>
            <a:r>
              <a:rPr b="0" lang="nl-NL" sz="2200" spc="-1" strike="noStrike">
                <a:solidFill>
                  <a:srgbClr val="3465a4"/>
                </a:solidFill>
                <a:latin typeface="Arial"/>
              </a:rPr>
              <a:t> (Waag Futurelab webpagina, mei 2026)</a:t>
            </a:r>
            <a:endParaRPr b="0" lang="en-GB"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503640" y="230040"/>
            <a:ext cx="9070200" cy="936000"/>
          </a:xfrm>
          <a:prstGeom prst="rect">
            <a:avLst/>
          </a:prstGeom>
          <a:noFill/>
          <a:ln w="0">
            <a:noFill/>
          </a:ln>
        </p:spPr>
        <p:txBody>
          <a:bodyPr lIns="0" rIns="0" tIns="0" bIns="0" anchor="ctr">
            <a:noAutofit/>
          </a:bodyPr>
          <a:p>
            <a:pPr indent="0">
              <a:lnSpc>
                <a:spcPct val="100000"/>
              </a:lnSpc>
              <a:buNone/>
              <a:tabLst>
                <a:tab algn="l" pos="0"/>
              </a:tabLst>
            </a:pPr>
            <a:r>
              <a:rPr b="1" lang="nl-NL" sz="4000" spc="-1" strike="noStrike">
                <a:solidFill>
                  <a:srgbClr val="11568c"/>
                </a:solidFill>
                <a:latin typeface="Arial"/>
              </a:rPr>
              <a:t>leesvoer</a:t>
            </a:r>
            <a:br>
              <a:rPr sz="4000"/>
            </a:br>
            <a:r>
              <a:rPr b="0" lang="nl-NL" sz="2600" spc="-1" strike="noStrike">
                <a:solidFill>
                  <a:srgbClr val="3465a4"/>
                </a:solidFill>
                <a:latin typeface="Arial"/>
              </a:rPr>
              <a:t>de vele details, een selectie              </a:t>
            </a:r>
            <a:r>
              <a:rPr b="0" lang="nl-NL" sz="1800" spc="-1" strike="noStrike">
                <a:solidFill>
                  <a:srgbClr val="3465a4"/>
                </a:solidFill>
                <a:latin typeface="Arial"/>
              </a:rPr>
              <a:t>(https://github.com/teusH/MySense/)</a:t>
            </a:r>
            <a:endParaRPr b="0" lang="en-GB" sz="1800" spc="-1" strike="noStrike">
              <a:solidFill>
                <a:srgbClr val="000000"/>
              </a:solidFill>
              <a:latin typeface="Arial"/>
            </a:endParaRPr>
          </a:p>
        </p:txBody>
      </p:sp>
      <p:sp>
        <p:nvSpPr>
          <p:cNvPr id="89" name="PlaceHolder 2"/>
          <p:cNvSpPr>
            <a:spLocks noGrp="1"/>
          </p:cNvSpPr>
          <p:nvPr>
            <p:ph/>
          </p:nvPr>
        </p:nvSpPr>
        <p:spPr>
          <a:xfrm>
            <a:off x="503640" y="1542240"/>
            <a:ext cx="9070200" cy="3892680"/>
          </a:xfrm>
          <a:prstGeom prst="rect">
            <a:avLst/>
          </a:prstGeom>
          <a:noFill/>
          <a:ln w="0">
            <a:noFill/>
          </a:ln>
        </p:spPr>
        <p:txBody>
          <a:bodyPr lIns="0" rIns="0" tIns="0" bIns="0" anchor="t">
            <a:normAutofit/>
          </a:bodyPr>
          <a:p>
            <a:pPr marL="432000" indent="-324000">
              <a:lnSpc>
                <a:spcPct val="100000"/>
              </a:lnSpc>
              <a:spcBef>
                <a:spcPts val="1414"/>
              </a:spcBef>
              <a:buClr>
                <a:srgbClr val="3465a4"/>
              </a:buClr>
              <a:buSzPct val="45000"/>
              <a:buFont typeface="Wingdings" charset="2"/>
              <a:buChar char=""/>
            </a:pPr>
            <a:r>
              <a:rPr b="0" lang="nl-NL" sz="2100" spc="-1" strike="noStrike" u="sng">
                <a:solidFill>
                  <a:srgbClr val="0000ee"/>
                </a:solidFill>
                <a:uFillTx/>
                <a:latin typeface="Arial"/>
                <a:ea typeface="Microsoft YaHei"/>
                <a:hlinkClick r:id="rId1"/>
              </a:rPr>
              <a:t>Historisch overzicht luchtkwaliteit meten mbt lokale overheid</a:t>
            </a:r>
            <a:r>
              <a:rPr b="0" lang="nl-NL" sz="2100" spc="-1" strike="noStrike">
                <a:solidFill>
                  <a:srgbClr val="3465a4"/>
                </a:solidFill>
                <a:latin typeface="Arial"/>
                <a:ea typeface="Microsoft YaHei"/>
              </a:rPr>
              <a:t> (2011-2023, web pagina)</a:t>
            </a:r>
            <a:endParaRPr b="0" lang="en-GB" sz="2100" spc="-1" strike="noStrike">
              <a:solidFill>
                <a:srgbClr val="000000"/>
              </a:solidFill>
              <a:latin typeface="Arial"/>
            </a:endParaRPr>
          </a:p>
          <a:p>
            <a:pPr marL="432000" indent="-324000">
              <a:lnSpc>
                <a:spcPct val="100000"/>
              </a:lnSpc>
              <a:spcBef>
                <a:spcPts val="1414"/>
              </a:spcBef>
              <a:buClr>
                <a:srgbClr val="3465a4"/>
              </a:buClr>
              <a:buSzPct val="45000"/>
              <a:buFont typeface="Wingdings" charset="2"/>
              <a:buChar char=""/>
            </a:pPr>
            <a:r>
              <a:rPr b="0" lang="nl-NL" sz="2100" spc="-1" strike="noStrike" u="sng">
                <a:solidFill>
                  <a:srgbClr val="0000ee"/>
                </a:solidFill>
                <a:uFillTx/>
                <a:latin typeface="Arial"/>
                <a:ea typeface="Microsoft YaHei"/>
                <a:hlinkClick r:id="rId2"/>
              </a:rPr>
              <a:t>3 jaar meten in een agrarische omgeving</a:t>
            </a:r>
            <a:r>
              <a:rPr b="0" lang="nl-NL" sz="2100" spc="-1" strike="noStrike">
                <a:solidFill>
                  <a:srgbClr val="3465a4"/>
                </a:solidFill>
                <a:latin typeface="Arial"/>
                <a:ea typeface="Microsoft YaHei"/>
              </a:rPr>
              <a:t> (sept 2022, rapport)</a:t>
            </a:r>
            <a:endParaRPr b="0" lang="en-GB" sz="2100" spc="-1" strike="noStrike">
              <a:solidFill>
                <a:srgbClr val="000000"/>
              </a:solidFill>
              <a:latin typeface="Arial"/>
            </a:endParaRPr>
          </a:p>
          <a:p>
            <a:pPr marL="432000" indent="-324000">
              <a:lnSpc>
                <a:spcPct val="100000"/>
              </a:lnSpc>
              <a:spcBef>
                <a:spcPts val="1414"/>
              </a:spcBef>
              <a:buClr>
                <a:srgbClr val="3465a4"/>
              </a:buClr>
              <a:buSzPct val="45000"/>
              <a:buFont typeface="Wingdings" charset="2"/>
              <a:buChar char=""/>
            </a:pPr>
            <a:r>
              <a:rPr b="0" lang="nl-NL" sz="2100" spc="-1" strike="noStrike" u="sng">
                <a:solidFill>
                  <a:srgbClr val="0000ee"/>
                </a:solidFill>
                <a:uFillTx/>
                <a:latin typeface="Arial"/>
                <a:ea typeface="Microsoft YaHei"/>
                <a:hlinkClick r:id="rId3"/>
              </a:rPr>
              <a:t>Luchtkwaliteit meten een leerschool</a:t>
            </a:r>
            <a:r>
              <a:rPr b="0" lang="nl-NL" sz="2100" spc="-1" strike="noStrike">
                <a:solidFill>
                  <a:srgbClr val="3465a4"/>
                </a:solidFill>
                <a:latin typeface="Arial"/>
                <a:ea typeface="Microsoft YaHei"/>
              </a:rPr>
              <a:t> (juni 2023, Meetkoppel presentatie)</a:t>
            </a:r>
            <a:endParaRPr b="0" lang="en-GB" sz="2100" spc="-1" strike="noStrike">
              <a:solidFill>
                <a:srgbClr val="000000"/>
              </a:solidFill>
              <a:latin typeface="Arial"/>
            </a:endParaRPr>
          </a:p>
          <a:p>
            <a:pPr marL="432000" indent="-324000">
              <a:lnSpc>
                <a:spcPct val="100000"/>
              </a:lnSpc>
              <a:spcBef>
                <a:spcPts val="1414"/>
              </a:spcBef>
              <a:buClr>
                <a:srgbClr val="3465a4"/>
              </a:buClr>
              <a:buSzPct val="45000"/>
              <a:buFont typeface="Wingdings" charset="2"/>
              <a:buChar char=""/>
            </a:pPr>
            <a:r>
              <a:rPr b="0" lang="nl-NL" sz="2100" spc="-1" strike="noStrike" u="sng">
                <a:solidFill>
                  <a:srgbClr val="3465a4"/>
                </a:solidFill>
                <a:uFillTx/>
                <a:latin typeface="Arial"/>
                <a:ea typeface="Microsoft YaHei"/>
                <a:hlinkClick r:id="rId4"/>
              </a:rPr>
              <a:t>Luchtkwaliteit meten: werkkader en organisatie structuur en ervaringen</a:t>
            </a:r>
            <a:r>
              <a:rPr b="0" lang="nl-NL" sz="2100" spc="-1" strike="noStrike">
                <a:solidFill>
                  <a:srgbClr val="3465a4"/>
                </a:solidFill>
                <a:latin typeface="Arial"/>
                <a:ea typeface="Microsoft YaHei"/>
              </a:rPr>
              <a:t> </a:t>
            </a:r>
            <a:r>
              <a:rPr b="0" lang="nl-NL" sz="2100" spc="-1" strike="noStrike">
                <a:solidFill>
                  <a:srgbClr val="3465a4"/>
                </a:solidFill>
                <a:latin typeface="Arial"/>
                <a:ea typeface="Microsoft YaHei"/>
              </a:rPr>
              <a:t>(sept 2023, notitie)</a:t>
            </a:r>
            <a:endParaRPr b="0" lang="en-GB"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2026-03-08T09:31:10Z</dcterms:created>
  <dc:creator>Frans Kets</dc:creator>
  <dc:description>Casus beschrijving gemeente Horst ad Maas 
Meetinitiatief MySense van ver. Behoud de Parel
auteur: Teus Hagen &lt;teus@theunis.org&gt;, Grubbenvorst</dc:description>
  <cp:keywords>luchtkwaliteitsmetingen citizen science Samen Meten</cp:keywords>
  <dc:language>nl-NL</dc:language>
  <cp:lastModifiedBy>Samen Meten</cp:lastModifiedBy>
  <cp:lastPrinted>2026-05-09T18:02:53Z</cp:lastPrinted>
  <dcterms:modified xsi:type="dcterms:W3CDTF">2026-05-09T22:16:29Z</dcterms:modified>
  <cp:revision>34</cp:revision>
  <dc:subject>geschiedenis, doel, middelen, mensen, resultaten, wil luchtmetingen initiatief Horst ad Maas</dc:subject>
  <dc:title>Navelstaren MySense geschiedenis</dc:title>
</cp:coreProperties>
</file>

<file path=docProps/custom.xml><?xml version="1.0" encoding="utf-8"?>
<Properties xmlns="http://schemas.openxmlformats.org/officeDocument/2006/custom-properties" xmlns:vt="http://schemas.openxmlformats.org/officeDocument/2006/docPropsVTypes"/>
</file>